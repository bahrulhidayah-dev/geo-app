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Today I will present GeoChem App, a free web application I am building for whole-rock geochemistry. On the right is the real app: the Diagrams page with an R1–R2 classification of 25 test samples. The app is online now at the link shown, so you can try it during or after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Whole-rock geochemistry relies on classification and discrimination diagrams. The software commonly used for this has three problems. Commercial packages are expensive. Free tools usually need programming before you get a single plot. And the diagrams themselves are spread across many papers, so many people still trace boundaries by hand, which is slow and error-prone.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is one tool that is free, easy, and still rigorous enough for a thesis or a paper. It is open source under GPL-3.0. It needs no coding. And everything in it comes from widely used, published sources: IUGS recommendations, the original classification papers, and standard normalising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guide the design. First, the science code is kept separate from the web interface, like keeping lab procedures separate from the report layout. Second, each diagram is stored as data, not as drawing code, so adding a new diagram means adding coordinates and formulas, not programming. Third, everything is traceable: each diagram shows its formulas and original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four layers, and each layer only uses the one below it. At the top is where the app runs: online, as a portable Windows folder, or on a desktop. The interface layer is one Streamlit script. Below it is the science layer, a plain Python package with modules for reading data, calculations, the CIPW norm, the diagram catalogue and the plotting engine. At the bottom are data files: boundary coordinates, normalising values and reference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written in Python and uses only five open-source libraries. Streamlit builds the web interface. pandas handles the data tables, NumPy the numerical work, Matplotlib draws the diagrams, and openpyxl reads Excel files. The exact versions are pinned in requirements.txt, so the app gives the same results on every computer and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code travels from my laptop to users. I write and test on my laptop, then commit and push to a public GitHub repository using GitHub Desktop. Streamlit Community Cloud watches the main branch and rebuilds the online app automatically, for free. For offline use I build a portable Windows ZIP with its own Python. During risky updates I can switch on a maintenance mode from the Cloud settings without changing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to a data file. The app reads it, then cleans it: values below detection limit become missing, never zero, which matters because a zero would pull samples into the wrong field. It recognises lab column names and units, calculates the axis values with the formulas of the chosen diagram, draws the plot, and finally classifies each sample into a field. Every change in steps 2 and 3 is listed in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lab files are messy: title rows, unit rows, values like less-than 0.01, decimal commas. The app reads them as they are. If the layout is unusual, the Column setup tab lets the user describe it once and save it. And the Data check tab, shown here, reports every change the app made, so nothing happens behind the user's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catalogue has 27 classification and discrimination diagrams in six categories, from IUGS standards like TAS to tectonic discrimination diagrams for basalts and granitoids, plus ultramafic and weathering diagrams. The list can be searched and filtered to the diagrams your data can fill. For every diagram the app names the field of each sample and shows the formulas and original paper, and warns which rock types the diagram is valid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classification, the app draws REE and multi-element spider diagrams with 35 published normalising sets, such as the McDonough and Sun chondrite and the Sun and McDonough primitive mantle. It calculates the CIPW norm following Hutchison, and offers free XY plots and group statistics. Values below detection limit are left out of spider patterns, and dotted lines bridge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should go straight into a thesis or paper. Each group gets its own symbol, colour and size, with a colour-blind safe palette and a greyscale option for printing. The appearance page controls fonts, label orientation and line widths. Exports are in a clean publication style: PNG up to 600 dpi, or vector SVG and PDF that can be edited in Inkscape or Illustrator.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optional module follows Mikuni, Ishikawa and Sato, 2025, in Geochemical Journal. It checks reference materials measured with the samples, builds calibration lines from raw X-ray intensities with a calcium–magnesium matrix correction, and flags high-MgO samples whose iron may be biased. This matters for my serpentinite and peridotite samples. Using the example data from the paper, the app reproduces the published values: R-squared 0.99967, accuracy 0.077 wt%, and GP13 corrected from 8.92 to 8.40 wt% T-Fe2O3.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use the app. The online version needs only the link or this QR code, and works on phones too. For confidential data or field work without internet, the portable Windows ZIP runs fully offline. Developers and macOS or Linux users can run it from the source code. The interface is available in English, Indonesian and Japanese.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this connect to my research on hydrogen generation during serpentinization? The app already has the Paulick et al. 2006 diagram for peridotites and serpentinites, the Ohta and Arai F–M–W diagram, and the XRF check for high-MgO rocks. An isocon tool for mass change during alteration is planned. On the roadmap, whole-rock XRF and ICP come first, then XRD, SEM-EDX, and later Raman and EPMA, following the same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GeoChem App is a free web application for whole-rock geochemistry. It is built from widely used, published scientific sources, so every result can be traced and cited. And it can be used online, offline, or from the source code. The diagram boundary data were adapted from open-source tools, including GCDkit, which I acknowledge here. The source code is on GitHub; feedback and diagram requests are very welcome.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4"/>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7262B"/>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4"/>
            <a:ext cx="10566400" cy="4170676"/>
          </a:xfrm>
          <a:prstGeom prst="rect">
            <a:avLst/>
          </a:prstGeom>
          <a:noFill/>
          <a:ln/>
        </p:spPr>
        <p:txBody>
          <a:bodyPr wrap="square" lIns="0" tIns="0" rIns="0" bIns="0" rtlCol="0" anchor="t"/>
          <a:lstStyle>
            <a:lvl1pPr algn="l" indent="0" marL="0">
              <a:lnSpc>
                <a:spcPct val="140000"/>
              </a:lnSpc>
              <a:buNone/>
              <a:defRPr lang="en-US" sz="1600" dirty="0">
                <a:solidFill>
                  <a:srgbClr val="1726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4"/>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7262B"/>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4"/>
            <a:ext cx="10566400" cy="4170676"/>
          </a:xfrm>
          <a:prstGeom prst="rect">
            <a:avLst/>
          </a:prstGeom>
          <a:noFill/>
          <a:ln/>
        </p:spPr>
        <p:txBody>
          <a:bodyPr wrap="square" lIns="0" tIns="0" rIns="0" bIns="0" rtlCol="0" anchor="t"/>
          <a:lstStyle>
            <a:lvl1pPr algn="l" indent="0" marL="0">
              <a:lnSpc>
                <a:spcPct val="140000"/>
              </a:lnSpc>
              <a:buNone/>
              <a:defRPr lang="en-US" sz="1600" dirty="0">
                <a:solidFill>
                  <a:srgbClr val="1726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62B"/>
        </a:solidFill>
      </p:bgPr>
    </p:bg>
    <p:spTree>
      <p:nvGrpSpPr>
        <p:cNvPr id="1" name=""/>
        <p:cNvGrpSpPr/>
        <p:nvPr/>
      </p:nvGrpSpPr>
      <p:grpSpPr>
        <a:xfrm>
          <a:off x="0" y="0"/>
          <a:ext cx="0" cy="0"/>
          <a:chOff x="0" y="0"/>
          <a:chExt cx="0" cy="0"/>
        </a:xfrm>
      </p:grpSpPr>
      <p:sp>
        <p:nvSpPr>
          <p:cNvPr id="2" name="Shape 0"/>
          <p:cNvSpPr/>
          <p:nvPr/>
        </p:nvSpPr>
        <p:spPr>
          <a:xfrm rot="180000">
            <a:off x="5969001" y="1663700"/>
            <a:ext cx="5410200" cy="3556000"/>
          </a:xfrm>
          <a:prstGeom prst="roundRect">
            <a:avLst>
              <a:gd name="adj" fmla="val 5000"/>
            </a:avLst>
          </a:prstGeom>
          <a:solidFill>
            <a:srgbClr val="1F3A40"/>
          </a:solidFill>
          <a:ln/>
        </p:spPr>
      </p:sp>
      <p:sp>
        <p:nvSpPr>
          <p:cNvPr id="3" name="Text 1"/>
          <p:cNvSpPr/>
          <p:nvPr/>
        </p:nvSpPr>
        <p:spPr>
          <a:xfrm>
            <a:off x="812800" y="1808480"/>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9A8"/>
                </a:solidFill>
                <a:latin typeface="Arial" pitchFamily="34" charset="0"/>
                <a:ea typeface="Arial" pitchFamily="34" charset="-122"/>
                <a:cs typeface="Arial" pitchFamily="34" charset="-120"/>
              </a:rPr>
              <a:t>HOKKAIDO UNIVERSITY</a:t>
            </a:r>
            <a:endParaRPr lang="en-US" sz="1200" dirty="0"/>
          </a:p>
        </p:txBody>
      </p:sp>
      <p:sp>
        <p:nvSpPr>
          <p:cNvPr id="4" name="Text 2"/>
          <p:cNvSpPr/>
          <p:nvPr>
            <p:ph type="title"/>
          </p:nvPr>
        </p:nvSpPr>
        <p:spPr>
          <a:xfrm>
            <a:off x="812800" y="2225040"/>
            <a:ext cx="4719123"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2EFE8"/>
                </a:solidFill>
                <a:latin typeface="Georgia" pitchFamily="18" charset="0"/>
                <a:ea typeface="Georgia" pitchFamily="18" charset="-122"/>
                <a:cs typeface="Georgia" pitchFamily="18" charset="-120"/>
              </a:rPr>
              <a:t>GeoChem App</a:t>
            </a:r>
            <a:endParaRPr lang="en-US" sz="4800" dirty="0"/>
          </a:p>
        </p:txBody>
      </p:sp>
      <p:sp>
        <p:nvSpPr>
          <p:cNvPr id="5" name="Text 3"/>
          <p:cNvSpPr/>
          <p:nvPr/>
        </p:nvSpPr>
        <p:spPr>
          <a:xfrm>
            <a:off x="812800" y="3068320"/>
            <a:ext cx="41859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CE5E2"/>
                </a:solidFill>
                <a:latin typeface="Arial" pitchFamily="34" charset="0"/>
                <a:ea typeface="Arial" pitchFamily="34" charset="-122"/>
                <a:cs typeface="Arial" pitchFamily="34" charset="-120"/>
              </a:rPr>
              <a:t>A free web application for whole-rock geochemistry</a:t>
            </a:r>
            <a:endParaRPr lang="en-US" sz="2000" dirty="0"/>
          </a:p>
        </p:txBody>
      </p:sp>
      <p:sp>
        <p:nvSpPr>
          <p:cNvPr id="6" name="Text 4"/>
          <p:cNvSpPr/>
          <p:nvPr/>
        </p:nvSpPr>
        <p:spPr>
          <a:xfrm>
            <a:off x="812800" y="3931920"/>
            <a:ext cx="47091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EFE8"/>
                </a:solidFill>
                <a:latin typeface="Arial" pitchFamily="34" charset="0"/>
                <a:ea typeface="Arial" pitchFamily="34" charset="-122"/>
                <a:cs typeface="Arial" pitchFamily="34" charset="-120"/>
              </a:rPr>
              <a:t>Bahrul Hidayah</a:t>
            </a:r>
            <a:endParaRPr lang="en-US" sz="1600" dirty="0"/>
          </a:p>
        </p:txBody>
      </p:sp>
      <p:sp>
        <p:nvSpPr>
          <p:cNvPr id="7" name="Text 5"/>
          <p:cNvSpPr/>
          <p:nvPr/>
        </p:nvSpPr>
        <p:spPr>
          <a:xfrm>
            <a:off x="812800" y="4267200"/>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7C4"/>
                </a:solidFill>
                <a:latin typeface="Arial" pitchFamily="34" charset="0"/>
                <a:ea typeface="Arial" pitchFamily="34" charset="-122"/>
                <a:cs typeface="Arial" pitchFamily="34" charset="-120"/>
              </a:rPr>
              <a:t>Geology and Resources Engineering · October 2026</a:t>
            </a:r>
            <a:endParaRPr lang="en-US" sz="1200" dirty="0"/>
          </a:p>
        </p:txBody>
      </p:sp>
      <p:sp>
        <p:nvSpPr>
          <p:cNvPr id="8" name="Text 6"/>
          <p:cNvSpPr/>
          <p:nvPr/>
        </p:nvSpPr>
        <p:spPr>
          <a:xfrm>
            <a:off x="812800" y="4683760"/>
            <a:ext cx="2414270" cy="365760"/>
          </a:xfrm>
          <a:prstGeom prst="roundRect">
            <a:avLst>
              <a:gd name="adj" fmla="val 50000"/>
            </a:avLst>
          </a:prstGeom>
          <a:solidFill>
            <a:srgbClr val="1A7560"/>
          </a:solidFill>
          <a:ln/>
        </p:spPr>
        <p:txBody>
          <a:bodyPr wrap="none" lIns="0" tIns="0" rIns="0" bIns="0" rtlCol="0" anchor="ctr">
            <a:normAutofit/>
          </a:bodyPr>
          <a:lstStyle/>
          <a:p>
            <a:pPr algn="ctr" indent="0" marL="0">
              <a:lnSpc>
                <a:spcPts val="1680"/>
              </a:lnSpc>
              <a:buNone/>
            </a:pPr>
            <a:r>
              <a:rPr lang="en-US" sz="1200" dirty="0">
                <a:solidFill>
                  <a:srgbClr val="F2EFE8"/>
                </a:solidFill>
                <a:latin typeface="Arial" pitchFamily="34" charset="0"/>
                <a:ea typeface="Arial" pitchFamily="34" charset="-122"/>
                <a:cs typeface="Arial" pitchFamily="34" charset="-120"/>
              </a:rPr>
              <a:t>geo-app-hidayah.streamlit.app</a:t>
            </a:r>
            <a:endParaRPr lang="en-US" sz="1200" dirty="0"/>
          </a:p>
        </p:txBody>
      </p:sp>
      <p:pic>
        <p:nvPicPr>
          <p:cNvPr id="9" name="Image 0" descr="GeoChem App Diagrams page showing the R1-R2 volcanic diagram with felsic, intermediate and mafic samples">    </p:cNvPr>
          <p:cNvPicPr>
            <a:picLocks noChangeAspect="1"/>
          </p:cNvPicPr>
          <p:nvPr/>
        </p:nvPicPr>
        <p:blipFill>
          <a:blip r:embed="rId1"/>
          <a:srcRect l="0" r="0" t="124" b="124"/>
          <a:stretch/>
        </p:blipFill>
        <p:spPr>
          <a:xfrm rot="21480000">
            <a:off x="5600700" y="1790700"/>
            <a:ext cx="5765800" cy="3289300"/>
          </a:xfrm>
          <a:prstGeom prst="roundRect">
            <a:avLst>
              <a:gd name="adj" fmla="val 2703"/>
            </a:avLst>
          </a:prstGeom>
          <a:effectLst>
            <a:outerShdw sx="100000" sy="100000" kx="0" ky="0" algn="bl" rotWithShape="0" blurRad="406400" dist="152400" dir="5400000">
              <a:srgbClr val="000000">
                <a:alpha val="45000"/>
              </a:srgbClr>
            </a:outerShdw>
          </a:effectLst>
        </p:spPr>
      </p:pic>
      <p:sp>
        <p:nvSpPr>
          <p:cNvPr id="10" name="Shape 7"/>
          <p:cNvSpPr/>
          <p:nvPr/>
        </p:nvSpPr>
        <p:spPr>
          <a:xfrm rot="21480000">
            <a:off x="5594350" y="1784350"/>
            <a:ext cx="5778500" cy="3302000"/>
          </a:xfrm>
          <a:prstGeom prst="roundRect">
            <a:avLst>
              <a:gd name="adj" fmla="val 2885"/>
            </a:avLst>
          </a:prstGeom>
          <a:noFill/>
          <a:ln w="12700">
            <a:solidFill>
              <a:srgbClr val="2E4A5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INTRODUCTION</a:t>
            </a:r>
            <a:endParaRPr lang="en-US" sz="1200" dirty="0"/>
          </a:p>
        </p:txBody>
      </p:sp>
      <p:sp>
        <p:nvSpPr>
          <p:cNvPr id="3" name="Text 1"/>
          <p:cNvSpPr/>
          <p:nvPr>
            <p:ph type="title"/>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The problem</a:t>
            </a:r>
            <a:endParaRPr lang="en-US" sz="3200" dirty="0"/>
          </a:p>
        </p:txBody>
      </p:sp>
      <p:sp>
        <p:nvSpPr>
          <p:cNvPr id="4" name="Shape 2"/>
          <p:cNvSpPr/>
          <p:nvPr/>
        </p:nvSpPr>
        <p:spPr>
          <a:xfrm>
            <a:off x="815975" y="1877695"/>
            <a:ext cx="3380264" cy="2683510"/>
          </a:xfrm>
          <a:prstGeom prst="roundRect">
            <a:avLst>
              <a:gd name="adj" fmla="val 4614"/>
            </a:avLst>
          </a:prstGeom>
          <a:solidFill>
            <a:srgbClr val="FFFDF9"/>
          </a:solidFill>
          <a:ln w="6350">
            <a:solidFill>
              <a:srgbClr val="E2DED4"/>
            </a:solidFill>
            <a:prstDash val="solid"/>
          </a:ln>
        </p:spPr>
      </p:sp>
      <p:pic>
        <p:nvPicPr>
          <p:cNvPr id="5" name="Image 0" descr="Lock">    </p:cNvPr>
          <p:cNvPicPr>
            <a:picLocks noChangeAspect="1"/>
          </p:cNvPicPr>
          <p:nvPr/>
        </p:nvPicPr>
        <p:blipFill>
          <a:blip r:embed="rId1"/>
          <a:srcRect l="0" r="0" t="0" b="0"/>
          <a:stretch/>
        </p:blipFill>
        <p:spPr>
          <a:xfrm>
            <a:off x="1122680" y="2184400"/>
            <a:ext cx="355600" cy="355600"/>
          </a:xfrm>
          <a:prstGeom prst="rect">
            <a:avLst/>
          </a:prstGeom>
        </p:spPr>
      </p:pic>
      <p:sp>
        <p:nvSpPr>
          <p:cNvPr id="6" name="Text 3"/>
          <p:cNvSpPr/>
          <p:nvPr/>
        </p:nvSpPr>
        <p:spPr>
          <a:xfrm>
            <a:off x="1122680" y="2692400"/>
            <a:ext cx="28498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Costly licences</a:t>
            </a:r>
            <a:endParaRPr lang="en-US" sz="2000" dirty="0"/>
          </a:p>
        </p:txBody>
      </p:sp>
      <p:sp>
        <p:nvSpPr>
          <p:cNvPr id="7" name="Text 4"/>
          <p:cNvSpPr/>
          <p:nvPr/>
        </p:nvSpPr>
        <p:spPr>
          <a:xfrm>
            <a:off x="1122680" y="3149600"/>
            <a:ext cx="2849859"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A5E"/>
                </a:solidFill>
                <a:latin typeface="Arial" pitchFamily="34" charset="0"/>
                <a:ea typeface="Arial" pitchFamily="34" charset="-122"/>
                <a:cs typeface="Arial" pitchFamily="34" charset="-120"/>
              </a:rPr>
              <a:t>Commercial geochemistry packages charge per seat or per year, which is hard for students and small labs.</a:t>
            </a:r>
            <a:endParaRPr lang="en-US" sz="1500" dirty="0"/>
          </a:p>
        </p:txBody>
      </p:sp>
      <p:sp>
        <p:nvSpPr>
          <p:cNvPr id="8" name="Shape 5"/>
          <p:cNvSpPr/>
          <p:nvPr/>
        </p:nvSpPr>
        <p:spPr>
          <a:xfrm>
            <a:off x="4405789" y="1877695"/>
            <a:ext cx="3380343" cy="2683510"/>
          </a:xfrm>
          <a:prstGeom prst="roundRect">
            <a:avLst>
              <a:gd name="adj" fmla="val 4614"/>
            </a:avLst>
          </a:prstGeom>
          <a:solidFill>
            <a:srgbClr val="FFFDF9"/>
          </a:solidFill>
          <a:ln w="6350">
            <a:solidFill>
              <a:srgbClr val="E2DED4"/>
            </a:solidFill>
            <a:prstDash val="solid"/>
          </a:ln>
        </p:spPr>
      </p:sp>
      <p:pic>
        <p:nvPicPr>
          <p:cNvPr id="9" name="Image 1" descr="Code">    </p:cNvPr>
          <p:cNvPicPr>
            <a:picLocks noChangeAspect="1"/>
          </p:cNvPicPr>
          <p:nvPr/>
        </p:nvPicPr>
        <p:blipFill>
          <a:blip r:embed="rId2"/>
          <a:srcRect l="0" r="0" t="0" b="0"/>
          <a:stretch/>
        </p:blipFill>
        <p:spPr>
          <a:xfrm>
            <a:off x="4712494" y="2184400"/>
            <a:ext cx="355600" cy="355600"/>
          </a:xfrm>
          <a:prstGeom prst="rect">
            <a:avLst/>
          </a:prstGeom>
        </p:spPr>
      </p:pic>
      <p:sp>
        <p:nvSpPr>
          <p:cNvPr id="10" name="Text 6"/>
          <p:cNvSpPr/>
          <p:nvPr/>
        </p:nvSpPr>
        <p:spPr>
          <a:xfrm>
            <a:off x="4712494" y="269240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Coding required</a:t>
            </a:r>
            <a:endParaRPr lang="en-US" sz="2000" dirty="0"/>
          </a:p>
        </p:txBody>
      </p:sp>
      <p:sp>
        <p:nvSpPr>
          <p:cNvPr id="11" name="Text 7"/>
          <p:cNvSpPr/>
          <p:nvPr/>
        </p:nvSpPr>
        <p:spPr>
          <a:xfrm>
            <a:off x="4712494" y="3149600"/>
            <a:ext cx="2849941"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A5E"/>
                </a:solidFill>
                <a:latin typeface="Arial" pitchFamily="34" charset="0"/>
                <a:ea typeface="Arial" pitchFamily="34" charset="-122"/>
                <a:cs typeface="Arial" pitchFamily="34" charset="-120"/>
              </a:rPr>
              <a:t>Free tools exist, but most need scripting in R or Python before the first plot appears.</a:t>
            </a:r>
            <a:endParaRPr lang="en-US" sz="1500" dirty="0"/>
          </a:p>
        </p:txBody>
      </p:sp>
      <p:sp>
        <p:nvSpPr>
          <p:cNvPr id="12" name="Shape 8"/>
          <p:cNvSpPr/>
          <p:nvPr/>
        </p:nvSpPr>
        <p:spPr>
          <a:xfrm>
            <a:off x="7995682" y="1877695"/>
            <a:ext cx="3380343" cy="2683510"/>
          </a:xfrm>
          <a:prstGeom prst="roundRect">
            <a:avLst>
              <a:gd name="adj" fmla="val 4614"/>
            </a:avLst>
          </a:prstGeom>
          <a:solidFill>
            <a:srgbClr val="FFFDF9"/>
          </a:solidFill>
          <a:ln w="6350">
            <a:solidFill>
              <a:srgbClr val="E2DED4"/>
            </a:solidFill>
            <a:prstDash val="solid"/>
          </a:ln>
        </p:spPr>
      </p:sp>
      <p:pic>
        <p:nvPicPr>
          <p:cNvPr id="13" name="Image 2" descr="Book">    </p:cNvPr>
          <p:cNvPicPr>
            <a:picLocks noChangeAspect="1"/>
          </p:cNvPicPr>
          <p:nvPr/>
        </p:nvPicPr>
        <p:blipFill>
          <a:blip r:embed="rId3"/>
          <a:srcRect l="0" r="0" t="0" b="0"/>
          <a:stretch/>
        </p:blipFill>
        <p:spPr>
          <a:xfrm>
            <a:off x="8302387" y="2184400"/>
            <a:ext cx="355600" cy="355600"/>
          </a:xfrm>
          <a:prstGeom prst="rect">
            <a:avLst/>
          </a:prstGeom>
        </p:spPr>
      </p:pic>
      <p:sp>
        <p:nvSpPr>
          <p:cNvPr id="14" name="Text 9"/>
          <p:cNvSpPr/>
          <p:nvPr/>
        </p:nvSpPr>
        <p:spPr>
          <a:xfrm>
            <a:off x="8302387" y="269240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Scattered sources</a:t>
            </a:r>
            <a:endParaRPr lang="en-US" sz="2000" dirty="0"/>
          </a:p>
        </p:txBody>
      </p:sp>
      <p:sp>
        <p:nvSpPr>
          <p:cNvPr id="15" name="Text 10"/>
          <p:cNvSpPr/>
          <p:nvPr/>
        </p:nvSpPr>
        <p:spPr>
          <a:xfrm>
            <a:off x="8302387" y="3149600"/>
            <a:ext cx="2849941"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A5E"/>
                </a:solidFill>
                <a:latin typeface="Arial" pitchFamily="34" charset="0"/>
                <a:ea typeface="Arial" pitchFamily="34" charset="-122"/>
                <a:cs typeface="Arial" pitchFamily="34" charset="-120"/>
              </a:rPr>
              <a:t>Field boundaries are spread across many papers, so diagrams are often still traced by hand.</a:t>
            </a:r>
            <a:endParaRPr lang="en-US" sz="1500" dirty="0"/>
          </a:p>
        </p:txBody>
      </p:sp>
      <p:sp>
        <p:nvSpPr>
          <p:cNvPr id="16" name="Text 11"/>
          <p:cNvSpPr/>
          <p:nvPr/>
        </p:nvSpPr>
        <p:spPr>
          <a:xfrm>
            <a:off x="812800" y="6236970"/>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7" name="Text 12"/>
          <p:cNvSpPr/>
          <p:nvPr/>
        </p:nvSpPr>
        <p:spPr>
          <a:xfrm>
            <a:off x="11243628" y="6236970"/>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756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DEBDF"/>
                </a:solidFill>
                <a:latin typeface="Arial" pitchFamily="34" charset="0"/>
                <a:ea typeface="Arial" pitchFamily="34" charset="-122"/>
                <a:cs typeface="Arial" pitchFamily="34" charset="-120"/>
              </a:rPr>
              <a:t>THE GOAL</a:t>
            </a:r>
            <a:endParaRPr lang="en-US" sz="1200" dirty="0"/>
          </a:p>
        </p:txBody>
      </p:sp>
      <p:sp>
        <p:nvSpPr>
          <p:cNvPr id="3" name="Text 1"/>
          <p:cNvSpPr/>
          <p:nvPr>
            <p:ph type="title"/>
          </p:nvPr>
        </p:nvSpPr>
        <p:spPr>
          <a:xfrm>
            <a:off x="812800" y="1178561"/>
            <a:ext cx="9810750"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5F0"/>
                </a:solidFill>
                <a:latin typeface="Georgia" pitchFamily="18" charset="0"/>
                <a:ea typeface="Georgia" pitchFamily="18" charset="-122"/>
                <a:cs typeface="Georgia" pitchFamily="18" charset="-120"/>
              </a:rPr>
              <a:t>One free tool that is easy to use and scientifically defensible.</a:t>
            </a:r>
            <a:endParaRPr lang="en-US" sz="3600" dirty="0"/>
          </a:p>
        </p:txBody>
      </p:sp>
      <p:sp>
        <p:nvSpPr>
          <p:cNvPr id="4" name="Shape 2"/>
          <p:cNvSpPr/>
          <p:nvPr/>
        </p:nvSpPr>
        <p:spPr>
          <a:xfrm>
            <a:off x="812800" y="4534536"/>
            <a:ext cx="3318907" cy="0"/>
          </a:xfrm>
          <a:prstGeom prst="line">
            <a:avLst/>
          </a:prstGeom>
          <a:noFill/>
          <a:ln w="19050">
            <a:solidFill>
              <a:srgbClr val="CDEBDF"/>
            </a:solidFill>
            <a:prstDash val="solid"/>
          </a:ln>
        </p:spPr>
      </p:sp>
      <p:sp>
        <p:nvSpPr>
          <p:cNvPr id="5" name="Text 3"/>
          <p:cNvSpPr/>
          <p:nvPr/>
        </p:nvSpPr>
        <p:spPr>
          <a:xfrm>
            <a:off x="812800" y="4718050"/>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0"/>
                </a:solidFill>
                <a:latin typeface="Georgia" pitchFamily="18" charset="0"/>
                <a:ea typeface="Georgia" pitchFamily="18" charset="-122"/>
                <a:cs typeface="Georgia" pitchFamily="18" charset="-120"/>
              </a:rPr>
              <a:t>Free and open source</a:t>
            </a:r>
            <a:endParaRPr lang="en-US" sz="1800" dirty="0"/>
          </a:p>
        </p:txBody>
      </p:sp>
      <p:sp>
        <p:nvSpPr>
          <p:cNvPr id="6" name="Text 4"/>
          <p:cNvSpPr/>
          <p:nvPr/>
        </p:nvSpPr>
        <p:spPr>
          <a:xfrm>
            <a:off x="812800" y="5068570"/>
            <a:ext cx="341847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F1EC"/>
                </a:solidFill>
                <a:latin typeface="Arial" pitchFamily="34" charset="0"/>
                <a:ea typeface="Arial" pitchFamily="34" charset="-122"/>
                <a:cs typeface="Arial" pitchFamily="34" charset="-120"/>
              </a:rPr>
              <a:t>GPL-3.0 licence: anyone can use, study, share and improve it.</a:t>
            </a:r>
            <a:endParaRPr lang="en-US" sz="1400" dirty="0"/>
          </a:p>
        </p:txBody>
      </p:sp>
      <p:sp>
        <p:nvSpPr>
          <p:cNvPr id="7" name="Shape 5"/>
          <p:cNvSpPr/>
          <p:nvPr/>
        </p:nvSpPr>
        <p:spPr>
          <a:xfrm>
            <a:off x="4436507" y="4534536"/>
            <a:ext cx="3318986" cy="0"/>
          </a:xfrm>
          <a:prstGeom prst="line">
            <a:avLst/>
          </a:prstGeom>
          <a:noFill/>
          <a:ln w="19050">
            <a:solidFill>
              <a:srgbClr val="CDEBDF"/>
            </a:solidFill>
            <a:prstDash val="solid"/>
          </a:ln>
        </p:spPr>
      </p:sp>
      <p:sp>
        <p:nvSpPr>
          <p:cNvPr id="8" name="Text 6"/>
          <p:cNvSpPr/>
          <p:nvPr/>
        </p:nvSpPr>
        <p:spPr>
          <a:xfrm>
            <a:off x="4436507" y="4718050"/>
            <a:ext cx="34185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0"/>
                </a:solidFill>
                <a:latin typeface="Georgia" pitchFamily="18" charset="0"/>
                <a:ea typeface="Georgia" pitchFamily="18" charset="-122"/>
                <a:cs typeface="Georgia" pitchFamily="18" charset="-120"/>
              </a:rPr>
              <a:t>Easy for beginners</a:t>
            </a:r>
            <a:endParaRPr lang="en-US" sz="1800" dirty="0"/>
          </a:p>
        </p:txBody>
      </p:sp>
      <p:sp>
        <p:nvSpPr>
          <p:cNvPr id="9" name="Text 7"/>
          <p:cNvSpPr/>
          <p:nvPr/>
        </p:nvSpPr>
        <p:spPr>
          <a:xfrm>
            <a:off x="4436507" y="5068570"/>
            <a:ext cx="341855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F1EC"/>
                </a:solidFill>
                <a:latin typeface="Arial" pitchFamily="34" charset="0"/>
                <a:ea typeface="Arial" pitchFamily="34" charset="-122"/>
                <a:cs typeface="Arial" pitchFamily="34" charset="-120"/>
              </a:rPr>
              <a:t>Upload a lab file and click. No coding and no installation needed.</a:t>
            </a:r>
            <a:endParaRPr lang="en-US" sz="1400" dirty="0"/>
          </a:p>
        </p:txBody>
      </p:sp>
      <p:sp>
        <p:nvSpPr>
          <p:cNvPr id="10" name="Shape 8"/>
          <p:cNvSpPr/>
          <p:nvPr/>
        </p:nvSpPr>
        <p:spPr>
          <a:xfrm>
            <a:off x="8060293" y="4534536"/>
            <a:ext cx="3318907" cy="0"/>
          </a:xfrm>
          <a:prstGeom prst="line">
            <a:avLst/>
          </a:prstGeom>
          <a:noFill/>
          <a:ln w="19050">
            <a:solidFill>
              <a:srgbClr val="CDEBDF"/>
            </a:solidFill>
            <a:prstDash val="solid"/>
          </a:ln>
        </p:spPr>
      </p:sp>
      <p:sp>
        <p:nvSpPr>
          <p:cNvPr id="11" name="Text 9"/>
          <p:cNvSpPr/>
          <p:nvPr/>
        </p:nvSpPr>
        <p:spPr>
          <a:xfrm>
            <a:off x="8060293" y="4718050"/>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0"/>
                </a:solidFill>
                <a:latin typeface="Georgia" pitchFamily="18" charset="0"/>
                <a:ea typeface="Georgia" pitchFamily="18" charset="-122"/>
                <a:cs typeface="Georgia" pitchFamily="18" charset="-120"/>
              </a:rPr>
              <a:t>Built on published science</a:t>
            </a:r>
            <a:endParaRPr lang="en-US" sz="1800" dirty="0"/>
          </a:p>
        </p:txBody>
      </p:sp>
      <p:sp>
        <p:nvSpPr>
          <p:cNvPr id="12" name="Text 10"/>
          <p:cNvSpPr/>
          <p:nvPr/>
        </p:nvSpPr>
        <p:spPr>
          <a:xfrm>
            <a:off x="8060293" y="5068570"/>
            <a:ext cx="341847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F1EC"/>
                </a:solidFill>
                <a:latin typeface="Arial" pitchFamily="34" charset="0"/>
                <a:ea typeface="Arial" pitchFamily="34" charset="-122"/>
                <a:cs typeface="Arial" pitchFamily="34" charset="-120"/>
              </a:rPr>
              <a:t>IUGS recommendations, original classification papers and standard normalising values.</a:t>
            </a:r>
            <a:endParaRPr lang="en-US" sz="1400" dirty="0"/>
          </a:p>
        </p:txBody>
      </p:sp>
      <p:sp>
        <p:nvSpPr>
          <p:cNvPr id="13" name="Text 11"/>
          <p:cNvSpPr/>
          <p:nvPr/>
        </p:nvSpPr>
        <p:spPr>
          <a:xfrm>
            <a:off x="812800" y="6236970"/>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EBDF"/>
                </a:solidFill>
                <a:latin typeface="Arial" pitchFamily="34" charset="0"/>
                <a:ea typeface="Arial" pitchFamily="34" charset="-122"/>
                <a:cs typeface="Arial" pitchFamily="34" charset="-120"/>
              </a:rPr>
              <a:t>GeoChem App · Bahrul Hidayah</a:t>
            </a:r>
            <a:endParaRPr lang="en-US" sz="1200" dirty="0"/>
          </a:p>
        </p:txBody>
      </p:sp>
      <p:sp>
        <p:nvSpPr>
          <p:cNvPr id="14" name="Text 12"/>
          <p:cNvSpPr/>
          <p:nvPr/>
        </p:nvSpPr>
        <p:spPr>
          <a:xfrm>
            <a:off x="11243628" y="6236970"/>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DEBD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Design principles</a:t>
            </a:r>
            <a:endParaRPr lang="en-US" sz="3200" dirty="0"/>
          </a:p>
        </p:txBody>
      </p:sp>
      <p:sp>
        <p:nvSpPr>
          <p:cNvPr id="4" name="Shape 2"/>
          <p:cNvSpPr/>
          <p:nvPr/>
        </p:nvSpPr>
        <p:spPr>
          <a:xfrm>
            <a:off x="812800" y="1826895"/>
            <a:ext cx="10566400" cy="0"/>
          </a:xfrm>
          <a:prstGeom prst="line">
            <a:avLst/>
          </a:prstGeom>
          <a:noFill/>
          <a:ln w="6350">
            <a:solidFill>
              <a:srgbClr val="D9D4C8"/>
            </a:solidFill>
            <a:prstDash val="solid"/>
          </a:ln>
        </p:spPr>
      </p:sp>
      <p:sp>
        <p:nvSpPr>
          <p:cNvPr id="5" name="Text 3"/>
          <p:cNvSpPr/>
          <p:nvPr/>
        </p:nvSpPr>
        <p:spPr>
          <a:xfrm>
            <a:off x="812800" y="2006600"/>
            <a:ext cx="812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A7560"/>
                </a:solidFill>
                <a:latin typeface="Georgia" pitchFamily="18" charset="0"/>
                <a:ea typeface="Georgia" pitchFamily="18" charset="-122"/>
                <a:cs typeface="Georgia" pitchFamily="18" charset="-120"/>
              </a:rPr>
              <a:t>01</a:t>
            </a:r>
            <a:endParaRPr lang="en-US" sz="2800" dirty="0"/>
          </a:p>
        </p:txBody>
      </p:sp>
      <p:sp>
        <p:nvSpPr>
          <p:cNvPr id="6" name="Text 4"/>
          <p:cNvSpPr/>
          <p:nvPr/>
        </p:nvSpPr>
        <p:spPr>
          <a:xfrm>
            <a:off x="1828800" y="2006600"/>
            <a:ext cx="9836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Science separate from the interface</a:t>
            </a:r>
            <a:endParaRPr lang="en-US" sz="2000" dirty="0"/>
          </a:p>
        </p:txBody>
      </p:sp>
      <p:sp>
        <p:nvSpPr>
          <p:cNvPr id="7" name="Text 5"/>
          <p:cNvSpPr/>
          <p:nvPr/>
        </p:nvSpPr>
        <p:spPr>
          <a:xfrm>
            <a:off x="1828800" y="2362200"/>
            <a:ext cx="983691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A5E"/>
                </a:solidFill>
                <a:latin typeface="Arial" pitchFamily="34" charset="0"/>
                <a:ea typeface="Arial" pitchFamily="34" charset="-122"/>
                <a:cs typeface="Arial" pitchFamily="34" charset="-120"/>
              </a:rPr>
              <a:t>All geochemistry lives in a plain-Python package. The web page only arranges buttons, so the science can be tested and reused.</a:t>
            </a:r>
            <a:endParaRPr lang="en-US" sz="1400" dirty="0"/>
          </a:p>
        </p:txBody>
      </p:sp>
      <p:sp>
        <p:nvSpPr>
          <p:cNvPr id="8" name="Shape 6"/>
          <p:cNvSpPr/>
          <p:nvPr/>
        </p:nvSpPr>
        <p:spPr>
          <a:xfrm>
            <a:off x="812800" y="3058795"/>
            <a:ext cx="10566400" cy="0"/>
          </a:xfrm>
          <a:prstGeom prst="line">
            <a:avLst/>
          </a:prstGeom>
          <a:noFill/>
          <a:ln w="6350">
            <a:solidFill>
              <a:srgbClr val="D9D4C8"/>
            </a:solidFill>
            <a:prstDash val="solid"/>
          </a:ln>
        </p:spPr>
      </p:sp>
      <p:sp>
        <p:nvSpPr>
          <p:cNvPr id="9" name="Text 7"/>
          <p:cNvSpPr/>
          <p:nvPr/>
        </p:nvSpPr>
        <p:spPr>
          <a:xfrm>
            <a:off x="812800" y="3238500"/>
            <a:ext cx="812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A7560"/>
                </a:solidFill>
                <a:latin typeface="Georgia" pitchFamily="18" charset="0"/>
                <a:ea typeface="Georgia" pitchFamily="18" charset="-122"/>
                <a:cs typeface="Georgia" pitchFamily="18" charset="-120"/>
              </a:rPr>
              <a:t>02</a:t>
            </a:r>
            <a:endParaRPr lang="en-US" sz="2800" dirty="0"/>
          </a:p>
        </p:txBody>
      </p:sp>
      <p:sp>
        <p:nvSpPr>
          <p:cNvPr id="10" name="Text 8"/>
          <p:cNvSpPr/>
          <p:nvPr/>
        </p:nvSpPr>
        <p:spPr>
          <a:xfrm>
            <a:off x="1828800" y="3238500"/>
            <a:ext cx="9836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Diagrams are data</a:t>
            </a:r>
            <a:endParaRPr lang="en-US" sz="2000" dirty="0"/>
          </a:p>
        </p:txBody>
      </p:sp>
      <p:sp>
        <p:nvSpPr>
          <p:cNvPr id="11" name="Text 9"/>
          <p:cNvSpPr/>
          <p:nvPr/>
        </p:nvSpPr>
        <p:spPr>
          <a:xfrm>
            <a:off x="1828800" y="3594100"/>
            <a:ext cx="983691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A5E"/>
                </a:solidFill>
                <a:latin typeface="Arial" pitchFamily="34" charset="0"/>
                <a:ea typeface="Arial" pitchFamily="34" charset="-122"/>
                <a:cs typeface="Arial" pitchFamily="34" charset="-120"/>
              </a:rPr>
              <a:t>Axis formulas, boundary lines and field names are stored as data files. One plotting engine draws every diagram.</a:t>
            </a:r>
            <a:endParaRPr lang="en-US" sz="1400" dirty="0"/>
          </a:p>
        </p:txBody>
      </p:sp>
      <p:sp>
        <p:nvSpPr>
          <p:cNvPr id="12" name="Shape 10"/>
          <p:cNvSpPr/>
          <p:nvPr/>
        </p:nvSpPr>
        <p:spPr>
          <a:xfrm>
            <a:off x="812800" y="4032886"/>
            <a:ext cx="10566400" cy="0"/>
          </a:xfrm>
          <a:prstGeom prst="line">
            <a:avLst/>
          </a:prstGeom>
          <a:noFill/>
          <a:ln w="6350">
            <a:solidFill>
              <a:srgbClr val="D9D4C8"/>
            </a:solidFill>
            <a:prstDash val="solid"/>
          </a:ln>
        </p:spPr>
      </p:sp>
      <p:sp>
        <p:nvSpPr>
          <p:cNvPr id="13" name="Shape 11"/>
          <p:cNvSpPr/>
          <p:nvPr/>
        </p:nvSpPr>
        <p:spPr>
          <a:xfrm>
            <a:off x="812800" y="5005706"/>
            <a:ext cx="10566400" cy="0"/>
          </a:xfrm>
          <a:prstGeom prst="line">
            <a:avLst/>
          </a:prstGeom>
          <a:noFill/>
          <a:ln w="6350">
            <a:solidFill>
              <a:srgbClr val="D9D4C8"/>
            </a:solidFill>
            <a:prstDash val="solid"/>
          </a:ln>
        </p:spPr>
      </p:sp>
      <p:sp>
        <p:nvSpPr>
          <p:cNvPr id="14" name="Text 12"/>
          <p:cNvSpPr/>
          <p:nvPr/>
        </p:nvSpPr>
        <p:spPr>
          <a:xfrm>
            <a:off x="812800" y="4212591"/>
            <a:ext cx="812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A7560"/>
                </a:solidFill>
                <a:latin typeface="Georgia" pitchFamily="18" charset="0"/>
                <a:ea typeface="Georgia" pitchFamily="18" charset="-122"/>
                <a:cs typeface="Georgia" pitchFamily="18" charset="-120"/>
              </a:rPr>
              <a:t>03</a:t>
            </a:r>
            <a:endParaRPr lang="en-US" sz="2800" dirty="0"/>
          </a:p>
        </p:txBody>
      </p:sp>
      <p:sp>
        <p:nvSpPr>
          <p:cNvPr id="15" name="Text 13"/>
          <p:cNvSpPr/>
          <p:nvPr/>
        </p:nvSpPr>
        <p:spPr>
          <a:xfrm>
            <a:off x="1828800" y="4212591"/>
            <a:ext cx="9836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Traceable to the source</a:t>
            </a:r>
            <a:endParaRPr lang="en-US" sz="2000" dirty="0"/>
          </a:p>
        </p:txBody>
      </p:sp>
      <p:sp>
        <p:nvSpPr>
          <p:cNvPr id="16" name="Text 14"/>
          <p:cNvSpPr/>
          <p:nvPr/>
        </p:nvSpPr>
        <p:spPr>
          <a:xfrm>
            <a:off x="1828800" y="4568191"/>
            <a:ext cx="983691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A5E"/>
                </a:solidFill>
                <a:latin typeface="Arial" pitchFamily="34" charset="0"/>
                <a:ea typeface="Arial" pitchFamily="34" charset="-122"/>
                <a:cs typeface="Arial" pitchFamily="34" charset="-120"/>
              </a:rPr>
              <a:t>Every diagram carries its original reference and formulas. Calculations are checked against published values.</a:t>
            </a:r>
            <a:endParaRPr lang="en-US" sz="1400" dirty="0"/>
          </a:p>
        </p:txBody>
      </p:sp>
      <p:sp>
        <p:nvSpPr>
          <p:cNvPr id="17" name="Text 15"/>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8" name="Text 16"/>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Architecture: four layers</a:t>
            </a:r>
            <a:endParaRPr lang="en-US" sz="3200" dirty="0"/>
          </a:p>
        </p:txBody>
      </p:sp>
      <p:sp>
        <p:nvSpPr>
          <p:cNvPr id="4" name="Shape 2"/>
          <p:cNvSpPr/>
          <p:nvPr/>
        </p:nvSpPr>
        <p:spPr>
          <a:xfrm>
            <a:off x="815975" y="1826896"/>
            <a:ext cx="10560050" cy="791210"/>
          </a:xfrm>
          <a:prstGeom prst="roundRect">
            <a:avLst>
              <a:gd name="adj" fmla="val 12440"/>
            </a:avLst>
          </a:prstGeom>
          <a:solidFill>
            <a:srgbClr val="FFFDF9"/>
          </a:solidFill>
          <a:ln w="6350">
            <a:solidFill>
              <a:srgbClr val="E2DED4"/>
            </a:solidFill>
            <a:prstDash val="solid"/>
          </a:ln>
        </p:spPr>
      </p:sp>
      <p:sp>
        <p:nvSpPr>
          <p:cNvPr id="5" name="Text 3"/>
          <p:cNvSpPr/>
          <p:nvPr/>
        </p:nvSpPr>
        <p:spPr>
          <a:xfrm>
            <a:off x="1021080" y="1981200"/>
            <a:ext cx="20929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3A80"/>
                </a:solidFill>
                <a:latin typeface="Georgia" pitchFamily="18" charset="0"/>
                <a:ea typeface="Georgia" pitchFamily="18" charset="-122"/>
                <a:cs typeface="Georgia" pitchFamily="18" charset="-120"/>
              </a:rPr>
              <a:t>Runtime</a:t>
            </a:r>
            <a:endParaRPr lang="en-US" sz="1600" dirty="0"/>
          </a:p>
        </p:txBody>
      </p:sp>
      <p:sp>
        <p:nvSpPr>
          <p:cNvPr id="6" name="Text 4"/>
          <p:cNvSpPr/>
          <p:nvPr/>
        </p:nvSpPr>
        <p:spPr>
          <a:xfrm>
            <a:off x="1021080" y="2250439"/>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where the app runs</a:t>
            </a:r>
            <a:endParaRPr lang="en-US" sz="1200" dirty="0"/>
          </a:p>
        </p:txBody>
      </p:sp>
      <p:sp>
        <p:nvSpPr>
          <p:cNvPr id="7" name="Text 5"/>
          <p:cNvSpPr/>
          <p:nvPr/>
        </p:nvSpPr>
        <p:spPr>
          <a:xfrm>
            <a:off x="3256280" y="2052321"/>
            <a:ext cx="1953895" cy="340360"/>
          </a:xfrm>
          <a:prstGeom prst="roundRect">
            <a:avLst>
              <a:gd name="adj" fmla="val 50000"/>
            </a:avLst>
          </a:prstGeom>
          <a:solidFill>
            <a:srgbClr val="ECE6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Web browser, any device</a:t>
            </a:r>
            <a:endParaRPr lang="en-US" sz="1200" dirty="0"/>
          </a:p>
        </p:txBody>
      </p:sp>
      <p:sp>
        <p:nvSpPr>
          <p:cNvPr id="8" name="Text 6"/>
          <p:cNvSpPr/>
          <p:nvPr/>
        </p:nvSpPr>
        <p:spPr>
          <a:xfrm>
            <a:off x="5286375" y="2052321"/>
            <a:ext cx="2108835" cy="340360"/>
          </a:xfrm>
          <a:prstGeom prst="roundRect">
            <a:avLst>
              <a:gd name="adj" fmla="val 50000"/>
            </a:avLst>
          </a:prstGeom>
          <a:solidFill>
            <a:srgbClr val="ECE6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Streamlit Community Cloud</a:t>
            </a:r>
            <a:endParaRPr lang="en-US" sz="1200" dirty="0"/>
          </a:p>
        </p:txBody>
      </p:sp>
      <p:sp>
        <p:nvSpPr>
          <p:cNvPr id="9" name="Text 7"/>
          <p:cNvSpPr/>
          <p:nvPr/>
        </p:nvSpPr>
        <p:spPr>
          <a:xfrm>
            <a:off x="7471410" y="2052321"/>
            <a:ext cx="1761649" cy="340360"/>
          </a:xfrm>
          <a:prstGeom prst="roundRect">
            <a:avLst>
              <a:gd name="adj" fmla="val 50000"/>
            </a:avLst>
          </a:prstGeom>
          <a:solidFill>
            <a:srgbClr val="ECE6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Portable Windows ZIP</a:t>
            </a:r>
            <a:endParaRPr lang="en-US" sz="1200" dirty="0"/>
          </a:p>
        </p:txBody>
      </p:sp>
      <p:sp>
        <p:nvSpPr>
          <p:cNvPr id="10" name="Text 8"/>
          <p:cNvSpPr/>
          <p:nvPr/>
        </p:nvSpPr>
        <p:spPr>
          <a:xfrm>
            <a:off x="9309259" y="2052321"/>
            <a:ext cx="813118" cy="340360"/>
          </a:xfrm>
          <a:prstGeom prst="roundRect">
            <a:avLst>
              <a:gd name="adj" fmla="val 50000"/>
            </a:avLst>
          </a:prstGeom>
          <a:solidFill>
            <a:srgbClr val="ECE6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Desktop</a:t>
            </a:r>
            <a:endParaRPr lang="en-US" sz="1200" dirty="0"/>
          </a:p>
        </p:txBody>
      </p:sp>
      <p:sp>
        <p:nvSpPr>
          <p:cNvPr id="11" name="Shape 9"/>
          <p:cNvSpPr/>
          <p:nvPr/>
        </p:nvSpPr>
        <p:spPr>
          <a:xfrm>
            <a:off x="815975" y="2726057"/>
            <a:ext cx="10560050" cy="791210"/>
          </a:xfrm>
          <a:prstGeom prst="roundRect">
            <a:avLst>
              <a:gd name="adj" fmla="val 12440"/>
            </a:avLst>
          </a:prstGeom>
          <a:solidFill>
            <a:srgbClr val="FFFDF9"/>
          </a:solidFill>
          <a:ln w="6350">
            <a:solidFill>
              <a:srgbClr val="E2DED4"/>
            </a:solidFill>
            <a:prstDash val="solid"/>
          </a:ln>
        </p:spPr>
      </p:sp>
      <p:sp>
        <p:nvSpPr>
          <p:cNvPr id="12" name="Text 10"/>
          <p:cNvSpPr/>
          <p:nvPr/>
        </p:nvSpPr>
        <p:spPr>
          <a:xfrm>
            <a:off x="1021080" y="2880361"/>
            <a:ext cx="20929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7560"/>
                </a:solidFill>
                <a:latin typeface="Georgia" pitchFamily="18" charset="0"/>
                <a:ea typeface="Georgia" pitchFamily="18" charset="-122"/>
                <a:cs typeface="Georgia" pitchFamily="18" charset="-120"/>
              </a:rPr>
              <a:t>Interface</a:t>
            </a:r>
            <a:endParaRPr lang="en-US" sz="1600" dirty="0"/>
          </a:p>
        </p:txBody>
      </p:sp>
      <p:sp>
        <p:nvSpPr>
          <p:cNvPr id="13" name="Text 11"/>
          <p:cNvSpPr/>
          <p:nvPr/>
        </p:nvSpPr>
        <p:spPr>
          <a:xfrm>
            <a:off x="1021080" y="3149600"/>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app.py · Streamlit</a:t>
            </a:r>
            <a:endParaRPr lang="en-US" sz="1200" dirty="0"/>
          </a:p>
        </p:txBody>
      </p:sp>
      <p:sp>
        <p:nvSpPr>
          <p:cNvPr id="14" name="Text 12"/>
          <p:cNvSpPr/>
          <p:nvPr/>
        </p:nvSpPr>
        <p:spPr>
          <a:xfrm>
            <a:off x="3256280" y="2951482"/>
            <a:ext cx="686197"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Pages</a:t>
            </a:r>
            <a:endParaRPr lang="en-US" sz="1200" dirty="0"/>
          </a:p>
        </p:txBody>
      </p:sp>
      <p:sp>
        <p:nvSpPr>
          <p:cNvPr id="15" name="Text 13"/>
          <p:cNvSpPr/>
          <p:nvPr/>
        </p:nvSpPr>
        <p:spPr>
          <a:xfrm>
            <a:off x="4018677" y="2951482"/>
            <a:ext cx="779304"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Sidebar</a:t>
            </a:r>
            <a:endParaRPr lang="en-US" sz="1200" dirty="0"/>
          </a:p>
        </p:txBody>
      </p:sp>
      <p:sp>
        <p:nvSpPr>
          <p:cNvPr id="16" name="Text 14"/>
          <p:cNvSpPr/>
          <p:nvPr/>
        </p:nvSpPr>
        <p:spPr>
          <a:xfrm>
            <a:off x="4874181" y="2951482"/>
            <a:ext cx="762397"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Top bar</a:t>
            </a:r>
            <a:endParaRPr lang="en-US" sz="1200" dirty="0"/>
          </a:p>
        </p:txBody>
      </p:sp>
      <p:sp>
        <p:nvSpPr>
          <p:cNvPr id="17" name="Text 15"/>
          <p:cNvSpPr/>
          <p:nvPr/>
        </p:nvSpPr>
        <p:spPr>
          <a:xfrm>
            <a:off x="5712778" y="2951482"/>
            <a:ext cx="1388904"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Session memory</a:t>
            </a:r>
            <a:endParaRPr lang="en-US" sz="1200" dirty="0"/>
          </a:p>
        </p:txBody>
      </p:sp>
      <p:sp>
        <p:nvSpPr>
          <p:cNvPr id="18" name="Text 16"/>
          <p:cNvSpPr/>
          <p:nvPr/>
        </p:nvSpPr>
        <p:spPr>
          <a:xfrm>
            <a:off x="7177881" y="2951482"/>
            <a:ext cx="2329894"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English, Indonesian, Japanese</a:t>
            </a:r>
            <a:endParaRPr lang="en-US" sz="1200" dirty="0"/>
          </a:p>
        </p:txBody>
      </p:sp>
      <p:sp>
        <p:nvSpPr>
          <p:cNvPr id="19" name="Shape 17"/>
          <p:cNvSpPr/>
          <p:nvPr/>
        </p:nvSpPr>
        <p:spPr>
          <a:xfrm>
            <a:off x="815975" y="3625214"/>
            <a:ext cx="10560050" cy="1065530"/>
          </a:xfrm>
          <a:prstGeom prst="roundRect">
            <a:avLst>
              <a:gd name="adj" fmla="val 9237"/>
            </a:avLst>
          </a:prstGeom>
          <a:solidFill>
            <a:srgbClr val="FFFDF9"/>
          </a:solidFill>
          <a:ln w="6350">
            <a:solidFill>
              <a:srgbClr val="E2DED4"/>
            </a:solidFill>
            <a:prstDash val="solid"/>
          </a:ln>
        </p:spPr>
      </p:sp>
      <p:sp>
        <p:nvSpPr>
          <p:cNvPr id="20" name="Text 18"/>
          <p:cNvSpPr/>
          <p:nvPr/>
        </p:nvSpPr>
        <p:spPr>
          <a:xfrm>
            <a:off x="1021080" y="3916682"/>
            <a:ext cx="20929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8C"/>
                </a:solidFill>
                <a:latin typeface="Georgia" pitchFamily="18" charset="0"/>
                <a:ea typeface="Georgia" pitchFamily="18" charset="-122"/>
                <a:cs typeface="Georgia" pitchFamily="18" charset="-120"/>
              </a:rPr>
              <a:t>Science</a:t>
            </a:r>
            <a:endParaRPr lang="en-US" sz="1600" dirty="0"/>
          </a:p>
        </p:txBody>
      </p:sp>
      <p:sp>
        <p:nvSpPr>
          <p:cNvPr id="21" name="Text 19"/>
          <p:cNvSpPr/>
          <p:nvPr/>
        </p:nvSpPr>
        <p:spPr>
          <a:xfrm>
            <a:off x="1021080" y="4185921"/>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 plain Python</a:t>
            </a:r>
            <a:endParaRPr lang="en-US" sz="1200" dirty="0"/>
          </a:p>
        </p:txBody>
      </p:sp>
      <p:sp>
        <p:nvSpPr>
          <p:cNvPr id="22" name="Text 20"/>
          <p:cNvSpPr/>
          <p:nvPr/>
        </p:nvSpPr>
        <p:spPr>
          <a:xfrm>
            <a:off x="3256280" y="3779521"/>
            <a:ext cx="1643618"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data: read and clean</a:t>
            </a:r>
            <a:endParaRPr lang="en-US" sz="1200" dirty="0"/>
          </a:p>
        </p:txBody>
      </p:sp>
      <p:sp>
        <p:nvSpPr>
          <p:cNvPr id="23" name="Text 21"/>
          <p:cNvSpPr/>
          <p:nvPr/>
        </p:nvSpPr>
        <p:spPr>
          <a:xfrm>
            <a:off x="4976098" y="3779521"/>
            <a:ext cx="2125980"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calc: FeOt, Mg#, anhydrous</a:t>
            </a:r>
            <a:endParaRPr lang="en-US" sz="1200" dirty="0"/>
          </a:p>
        </p:txBody>
      </p:sp>
      <p:sp>
        <p:nvSpPr>
          <p:cNvPr id="24" name="Text 22"/>
          <p:cNvSpPr/>
          <p:nvPr/>
        </p:nvSpPr>
        <p:spPr>
          <a:xfrm>
            <a:off x="7178278" y="3779521"/>
            <a:ext cx="1549559"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norms: CIPW norm</a:t>
            </a:r>
            <a:endParaRPr lang="en-US" sz="1200" dirty="0"/>
          </a:p>
        </p:txBody>
      </p:sp>
      <p:sp>
        <p:nvSpPr>
          <p:cNvPr id="25" name="Text 23"/>
          <p:cNvSpPr/>
          <p:nvPr/>
        </p:nvSpPr>
        <p:spPr>
          <a:xfrm>
            <a:off x="8804037" y="3779521"/>
            <a:ext cx="1668780"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catalog: 27 diagrams</a:t>
            </a:r>
            <a:endParaRPr lang="en-US" sz="1200" dirty="0"/>
          </a:p>
        </p:txBody>
      </p:sp>
      <p:sp>
        <p:nvSpPr>
          <p:cNvPr id="26" name="Text 24"/>
          <p:cNvSpPr/>
          <p:nvPr/>
        </p:nvSpPr>
        <p:spPr>
          <a:xfrm>
            <a:off x="3256280" y="4196082"/>
            <a:ext cx="1584404"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plotting: one engine</a:t>
            </a:r>
            <a:endParaRPr lang="en-US" sz="1200" dirty="0"/>
          </a:p>
        </p:txBody>
      </p:sp>
      <p:sp>
        <p:nvSpPr>
          <p:cNvPr id="27" name="Text 25"/>
          <p:cNvSpPr/>
          <p:nvPr/>
        </p:nvSpPr>
        <p:spPr>
          <a:xfrm>
            <a:off x="4916884" y="4196082"/>
            <a:ext cx="1515983" cy="340360"/>
          </a:xfrm>
          <a:prstGeom prst="roundRect">
            <a:avLst>
              <a:gd name="adj" fmla="val 50000"/>
            </a:avLst>
          </a:prstGeom>
          <a:solidFill>
            <a:srgbClr val="E3EBF5"/>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xrfqc: XRF module</a:t>
            </a:r>
            <a:endParaRPr lang="en-US" sz="1200" dirty="0"/>
          </a:p>
        </p:txBody>
      </p:sp>
      <p:sp>
        <p:nvSpPr>
          <p:cNvPr id="28" name="Shape 26"/>
          <p:cNvSpPr/>
          <p:nvPr/>
        </p:nvSpPr>
        <p:spPr>
          <a:xfrm>
            <a:off x="815975" y="4798696"/>
            <a:ext cx="10560050" cy="791210"/>
          </a:xfrm>
          <a:prstGeom prst="roundRect">
            <a:avLst>
              <a:gd name="adj" fmla="val 12440"/>
            </a:avLst>
          </a:prstGeom>
          <a:solidFill>
            <a:srgbClr val="FFFDF9"/>
          </a:solidFill>
          <a:ln w="6350">
            <a:solidFill>
              <a:srgbClr val="E2DED4"/>
            </a:solidFill>
            <a:prstDash val="solid"/>
          </a:ln>
        </p:spPr>
      </p:sp>
      <p:sp>
        <p:nvSpPr>
          <p:cNvPr id="29" name="Text 27"/>
          <p:cNvSpPr/>
          <p:nvPr/>
        </p:nvSpPr>
        <p:spPr>
          <a:xfrm>
            <a:off x="1021080" y="4953000"/>
            <a:ext cx="20929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C5418"/>
                </a:solidFill>
                <a:latin typeface="Georgia" pitchFamily="18" charset="0"/>
                <a:ea typeface="Georgia" pitchFamily="18" charset="-122"/>
                <a:cs typeface="Georgia" pitchFamily="18" charset="-120"/>
              </a:rPr>
              <a:t>Data</a:t>
            </a:r>
            <a:endParaRPr lang="en-US" sz="1600" dirty="0"/>
          </a:p>
        </p:txBody>
      </p:sp>
      <p:sp>
        <p:nvSpPr>
          <p:cNvPr id="30" name="Text 28"/>
          <p:cNvSpPr/>
          <p:nvPr/>
        </p:nvSpPr>
        <p:spPr>
          <a:xfrm>
            <a:off x="1021080" y="5222239"/>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files</a:t>
            </a:r>
            <a:endParaRPr lang="en-US" sz="1200" dirty="0"/>
          </a:p>
        </p:txBody>
      </p:sp>
      <p:sp>
        <p:nvSpPr>
          <p:cNvPr id="31" name="Text 29"/>
          <p:cNvSpPr/>
          <p:nvPr/>
        </p:nvSpPr>
        <p:spPr>
          <a:xfrm>
            <a:off x="3256280" y="5024121"/>
            <a:ext cx="2270046" cy="340360"/>
          </a:xfrm>
          <a:prstGeom prst="roundRect">
            <a:avLst>
              <a:gd name="adj" fmla="val 50000"/>
            </a:avLst>
          </a:prstGeom>
          <a:solidFill>
            <a:srgbClr val="F6E9DA"/>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Boundaries and fields (JSON)</a:t>
            </a:r>
            <a:endParaRPr lang="en-US" sz="1200" dirty="0"/>
          </a:p>
        </p:txBody>
      </p:sp>
      <p:sp>
        <p:nvSpPr>
          <p:cNvPr id="32" name="Text 30"/>
          <p:cNvSpPr/>
          <p:nvPr/>
        </p:nvSpPr>
        <p:spPr>
          <a:xfrm>
            <a:off x="5602526" y="5024121"/>
            <a:ext cx="2091769" cy="340360"/>
          </a:xfrm>
          <a:prstGeom prst="roundRect">
            <a:avLst>
              <a:gd name="adj" fmla="val 50000"/>
            </a:avLst>
          </a:prstGeom>
          <a:solidFill>
            <a:srgbClr val="F6E9DA"/>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Normalising values (JSON)</a:t>
            </a:r>
            <a:endParaRPr lang="en-US" sz="1200" dirty="0"/>
          </a:p>
        </p:txBody>
      </p:sp>
      <p:sp>
        <p:nvSpPr>
          <p:cNvPr id="33" name="Text 31"/>
          <p:cNvSpPr/>
          <p:nvPr/>
        </p:nvSpPr>
        <p:spPr>
          <a:xfrm>
            <a:off x="7770495" y="5024121"/>
            <a:ext cx="2074942" cy="340360"/>
          </a:xfrm>
          <a:prstGeom prst="roundRect">
            <a:avLst>
              <a:gd name="adj" fmla="val 50000"/>
            </a:avLst>
          </a:prstGeom>
          <a:solidFill>
            <a:srgbClr val="F6E9DA"/>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Reference materials (CSV)</a:t>
            </a:r>
            <a:endParaRPr lang="en-US" sz="1200" dirty="0"/>
          </a:p>
        </p:txBody>
      </p:sp>
      <p:sp>
        <p:nvSpPr>
          <p:cNvPr id="34" name="Text 32"/>
          <p:cNvSpPr/>
          <p:nvPr/>
        </p:nvSpPr>
        <p:spPr>
          <a:xfrm>
            <a:off x="9921637" y="5024121"/>
            <a:ext cx="753904" cy="340360"/>
          </a:xfrm>
          <a:prstGeom prst="roundRect">
            <a:avLst>
              <a:gd name="adj" fmla="val 50000"/>
            </a:avLst>
          </a:prstGeom>
          <a:solidFill>
            <a:srgbClr val="F6E9DA"/>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Manual</a:t>
            </a:r>
            <a:endParaRPr lang="en-US" sz="1200" dirty="0"/>
          </a:p>
        </p:txBody>
      </p:sp>
      <p:sp>
        <p:nvSpPr>
          <p:cNvPr id="35" name="Text 33"/>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36" name="Text 34"/>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Built with: language and libraries</a:t>
            </a:r>
            <a:endParaRPr lang="en-US" sz="3200" dirty="0"/>
          </a:p>
        </p:txBody>
      </p:sp>
      <p:sp>
        <p:nvSpPr>
          <p:cNvPr id="4" name="Shape 2"/>
          <p:cNvSpPr/>
          <p:nvPr/>
        </p:nvSpPr>
        <p:spPr>
          <a:xfrm>
            <a:off x="815975" y="1826896"/>
            <a:ext cx="3414157" cy="1492250"/>
          </a:xfrm>
          <a:prstGeom prst="roundRect">
            <a:avLst>
              <a:gd name="adj" fmla="val 6596"/>
            </a:avLst>
          </a:prstGeom>
          <a:solidFill>
            <a:srgbClr val="FFFDF9"/>
          </a:solidFill>
          <a:ln w="6350">
            <a:solidFill>
              <a:srgbClr val="E2DED4"/>
            </a:solidFill>
            <a:prstDash val="solid"/>
          </a:ln>
        </p:spPr>
      </p:sp>
      <p:pic>
        <p:nvPicPr>
          <p:cNvPr id="5" name="Image 0" descr="Code">    </p:cNvPr>
          <p:cNvPicPr>
            <a:picLocks noChangeAspect="1"/>
          </p:cNvPicPr>
          <p:nvPr/>
        </p:nvPicPr>
        <p:blipFill>
          <a:blip r:embed="rId1"/>
          <a:srcRect l="0" r="0" t="0" b="0"/>
          <a:stretch/>
        </p:blipFill>
        <p:spPr>
          <a:xfrm>
            <a:off x="1021080" y="2044700"/>
            <a:ext cx="279400" cy="279400"/>
          </a:xfrm>
          <a:prstGeom prst="rect">
            <a:avLst/>
          </a:prstGeom>
        </p:spPr>
      </p:pic>
      <p:sp>
        <p:nvSpPr>
          <p:cNvPr id="6" name="Text 3"/>
          <p:cNvSpPr/>
          <p:nvPr/>
        </p:nvSpPr>
        <p:spPr>
          <a:xfrm>
            <a:off x="1402080" y="2032000"/>
            <a:ext cx="11174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Python</a:t>
            </a:r>
            <a:endParaRPr lang="en-US" sz="2000" dirty="0"/>
          </a:p>
        </p:txBody>
      </p:sp>
      <p:sp>
        <p:nvSpPr>
          <p:cNvPr id="7" name="Text 4"/>
          <p:cNvSpPr/>
          <p:nvPr/>
        </p:nvSpPr>
        <p:spPr>
          <a:xfrm>
            <a:off x="1021080" y="2387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3.12 to 3.14</a:t>
            </a:r>
            <a:endParaRPr lang="en-US" sz="1200" dirty="0"/>
          </a:p>
        </p:txBody>
      </p:sp>
      <p:sp>
        <p:nvSpPr>
          <p:cNvPr id="8" name="Text 5"/>
          <p:cNvSpPr/>
          <p:nvPr/>
        </p:nvSpPr>
        <p:spPr>
          <a:xfrm>
            <a:off x="1021080" y="2651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The language for every calculation and for the app’s logic.</a:t>
            </a:r>
            <a:endParaRPr lang="en-US" sz="1300" dirty="0"/>
          </a:p>
        </p:txBody>
      </p:sp>
      <p:sp>
        <p:nvSpPr>
          <p:cNvPr id="9" name="Shape 6"/>
          <p:cNvSpPr/>
          <p:nvPr/>
        </p:nvSpPr>
        <p:spPr>
          <a:xfrm>
            <a:off x="4388882" y="1826896"/>
            <a:ext cx="3414157" cy="1492250"/>
          </a:xfrm>
          <a:prstGeom prst="roundRect">
            <a:avLst>
              <a:gd name="adj" fmla="val 6596"/>
            </a:avLst>
          </a:prstGeom>
          <a:solidFill>
            <a:srgbClr val="FFFDF9"/>
          </a:solidFill>
          <a:ln w="6350">
            <a:solidFill>
              <a:srgbClr val="E2DED4"/>
            </a:solidFill>
            <a:prstDash val="solid"/>
          </a:ln>
        </p:spPr>
      </p:sp>
      <p:pic>
        <p:nvPicPr>
          <p:cNvPr id="10" name="Image 1" descr="Globe">    </p:cNvPr>
          <p:cNvPicPr>
            <a:picLocks noChangeAspect="1"/>
          </p:cNvPicPr>
          <p:nvPr/>
        </p:nvPicPr>
        <p:blipFill>
          <a:blip r:embed="rId2"/>
          <a:srcRect l="0" r="0" t="0" b="0"/>
          <a:stretch/>
        </p:blipFill>
        <p:spPr>
          <a:xfrm>
            <a:off x="4593987" y="2044700"/>
            <a:ext cx="279400" cy="279400"/>
          </a:xfrm>
          <a:prstGeom prst="rect">
            <a:avLst/>
          </a:prstGeom>
        </p:spPr>
      </p:pic>
      <p:sp>
        <p:nvSpPr>
          <p:cNvPr id="11" name="Text 7"/>
          <p:cNvSpPr/>
          <p:nvPr/>
        </p:nvSpPr>
        <p:spPr>
          <a:xfrm>
            <a:off x="4974987" y="2032000"/>
            <a:ext cx="147675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Streamlit</a:t>
            </a:r>
            <a:endParaRPr lang="en-US" sz="2000" dirty="0"/>
          </a:p>
        </p:txBody>
      </p:sp>
      <p:sp>
        <p:nvSpPr>
          <p:cNvPr id="12" name="Text 8"/>
          <p:cNvSpPr/>
          <p:nvPr/>
        </p:nvSpPr>
        <p:spPr>
          <a:xfrm>
            <a:off x="4593987" y="2387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1.66</a:t>
            </a:r>
            <a:endParaRPr lang="en-US" sz="1200" dirty="0"/>
          </a:p>
        </p:txBody>
      </p:sp>
      <p:sp>
        <p:nvSpPr>
          <p:cNvPr id="13" name="Text 9"/>
          <p:cNvSpPr/>
          <p:nvPr/>
        </p:nvSpPr>
        <p:spPr>
          <a:xfrm>
            <a:off x="4593987" y="2651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Turns a Python script into an interactive web page.</a:t>
            </a:r>
            <a:endParaRPr lang="en-US" sz="1300" dirty="0"/>
          </a:p>
        </p:txBody>
      </p:sp>
      <p:sp>
        <p:nvSpPr>
          <p:cNvPr id="14" name="Shape 10"/>
          <p:cNvSpPr/>
          <p:nvPr/>
        </p:nvSpPr>
        <p:spPr>
          <a:xfrm>
            <a:off x="7961789" y="1826896"/>
            <a:ext cx="3414157" cy="1492250"/>
          </a:xfrm>
          <a:prstGeom prst="roundRect">
            <a:avLst>
              <a:gd name="adj" fmla="val 6596"/>
            </a:avLst>
          </a:prstGeom>
          <a:solidFill>
            <a:srgbClr val="FFFDF9"/>
          </a:solidFill>
          <a:ln w="6350">
            <a:solidFill>
              <a:srgbClr val="E2DED4"/>
            </a:solidFill>
            <a:prstDash val="solid"/>
          </a:ln>
        </p:spPr>
      </p:sp>
      <p:pic>
        <p:nvPicPr>
          <p:cNvPr id="15" name="Image 2" descr="Database">    </p:cNvPr>
          <p:cNvPicPr>
            <a:picLocks noChangeAspect="1"/>
          </p:cNvPicPr>
          <p:nvPr/>
        </p:nvPicPr>
        <p:blipFill>
          <a:blip r:embed="rId3"/>
          <a:srcRect l="0" r="0" t="0" b="0"/>
          <a:stretch/>
        </p:blipFill>
        <p:spPr>
          <a:xfrm>
            <a:off x="8166894" y="2044700"/>
            <a:ext cx="279400" cy="279400"/>
          </a:xfrm>
          <a:prstGeom prst="rect">
            <a:avLst/>
          </a:prstGeom>
        </p:spPr>
      </p:pic>
      <p:sp>
        <p:nvSpPr>
          <p:cNvPr id="16" name="Text 11"/>
          <p:cNvSpPr/>
          <p:nvPr/>
        </p:nvSpPr>
        <p:spPr>
          <a:xfrm>
            <a:off x="8547894" y="2032000"/>
            <a:ext cx="11323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pandas</a:t>
            </a:r>
            <a:endParaRPr lang="en-US" sz="2000" dirty="0"/>
          </a:p>
        </p:txBody>
      </p:sp>
      <p:sp>
        <p:nvSpPr>
          <p:cNvPr id="17" name="Text 12"/>
          <p:cNvSpPr/>
          <p:nvPr/>
        </p:nvSpPr>
        <p:spPr>
          <a:xfrm>
            <a:off x="8166894" y="2387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3.0</a:t>
            </a:r>
            <a:endParaRPr lang="en-US" sz="1200" dirty="0"/>
          </a:p>
        </p:txBody>
      </p:sp>
      <p:sp>
        <p:nvSpPr>
          <p:cNvPr id="18" name="Text 13"/>
          <p:cNvSpPr/>
          <p:nvPr/>
        </p:nvSpPr>
        <p:spPr>
          <a:xfrm>
            <a:off x="8166894" y="2651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Reads CSV and Excel files; cleans and reshapes data tables.</a:t>
            </a:r>
            <a:endParaRPr lang="en-US" sz="1300" dirty="0"/>
          </a:p>
        </p:txBody>
      </p:sp>
      <p:sp>
        <p:nvSpPr>
          <p:cNvPr id="19" name="Shape 14"/>
          <p:cNvSpPr/>
          <p:nvPr/>
        </p:nvSpPr>
        <p:spPr>
          <a:xfrm>
            <a:off x="815975" y="3477896"/>
            <a:ext cx="3414157" cy="1492250"/>
          </a:xfrm>
          <a:prstGeom prst="roundRect">
            <a:avLst>
              <a:gd name="adj" fmla="val 6596"/>
            </a:avLst>
          </a:prstGeom>
          <a:solidFill>
            <a:srgbClr val="FFFDF9"/>
          </a:solidFill>
          <a:ln w="6350">
            <a:solidFill>
              <a:srgbClr val="E2DED4"/>
            </a:solidFill>
            <a:prstDash val="solid"/>
          </a:ln>
        </p:spPr>
      </p:sp>
      <p:pic>
        <p:nvPicPr>
          <p:cNvPr id="20" name="Image 3" descr="Activity">    </p:cNvPr>
          <p:cNvPicPr>
            <a:picLocks noChangeAspect="1"/>
          </p:cNvPicPr>
          <p:nvPr/>
        </p:nvPicPr>
        <p:blipFill>
          <a:blip r:embed="rId4"/>
          <a:srcRect l="0" r="0" t="0" b="0"/>
          <a:stretch/>
        </p:blipFill>
        <p:spPr>
          <a:xfrm>
            <a:off x="1021080" y="3695700"/>
            <a:ext cx="279400" cy="279400"/>
          </a:xfrm>
          <a:prstGeom prst="rect">
            <a:avLst/>
          </a:prstGeom>
        </p:spPr>
      </p:pic>
      <p:sp>
        <p:nvSpPr>
          <p:cNvPr id="21" name="Text 15"/>
          <p:cNvSpPr/>
          <p:nvPr/>
        </p:nvSpPr>
        <p:spPr>
          <a:xfrm>
            <a:off x="1402080" y="3683000"/>
            <a:ext cx="11567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NumPy</a:t>
            </a:r>
            <a:endParaRPr lang="en-US" sz="2000" dirty="0"/>
          </a:p>
        </p:txBody>
      </p:sp>
      <p:sp>
        <p:nvSpPr>
          <p:cNvPr id="22" name="Text 16"/>
          <p:cNvSpPr/>
          <p:nvPr/>
        </p:nvSpPr>
        <p:spPr>
          <a:xfrm>
            <a:off x="1021080" y="4038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2.5</a:t>
            </a:r>
            <a:endParaRPr lang="en-US" sz="1200" dirty="0"/>
          </a:p>
        </p:txBody>
      </p:sp>
      <p:sp>
        <p:nvSpPr>
          <p:cNvPr id="23" name="Text 17"/>
          <p:cNvSpPr/>
          <p:nvPr/>
        </p:nvSpPr>
        <p:spPr>
          <a:xfrm>
            <a:off x="1021080" y="4302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Fast numerical work: axis formulas, norms, ternary coordinates.</a:t>
            </a:r>
            <a:endParaRPr lang="en-US" sz="1300" dirty="0"/>
          </a:p>
        </p:txBody>
      </p:sp>
      <p:sp>
        <p:nvSpPr>
          <p:cNvPr id="24" name="Shape 18"/>
          <p:cNvSpPr/>
          <p:nvPr/>
        </p:nvSpPr>
        <p:spPr>
          <a:xfrm>
            <a:off x="4388882" y="3477896"/>
            <a:ext cx="3414157" cy="1492250"/>
          </a:xfrm>
          <a:prstGeom prst="roundRect">
            <a:avLst>
              <a:gd name="adj" fmla="val 6596"/>
            </a:avLst>
          </a:prstGeom>
          <a:solidFill>
            <a:srgbClr val="FFFDF9"/>
          </a:solidFill>
          <a:ln w="6350">
            <a:solidFill>
              <a:srgbClr val="E2DED4"/>
            </a:solidFill>
            <a:prstDash val="solid"/>
          </a:ln>
        </p:spPr>
      </p:sp>
      <p:pic>
        <p:nvPicPr>
          <p:cNvPr id="25" name="Image 4" descr="Chart">    </p:cNvPr>
          <p:cNvPicPr>
            <a:picLocks noChangeAspect="1"/>
          </p:cNvPicPr>
          <p:nvPr/>
        </p:nvPicPr>
        <p:blipFill>
          <a:blip r:embed="rId5"/>
          <a:srcRect l="0" r="0" t="0" b="0"/>
          <a:stretch/>
        </p:blipFill>
        <p:spPr>
          <a:xfrm>
            <a:off x="4593987" y="3695700"/>
            <a:ext cx="279400" cy="279400"/>
          </a:xfrm>
          <a:prstGeom prst="rect">
            <a:avLst/>
          </a:prstGeom>
        </p:spPr>
      </p:pic>
      <p:sp>
        <p:nvSpPr>
          <p:cNvPr id="26" name="Text 19"/>
          <p:cNvSpPr/>
          <p:nvPr/>
        </p:nvSpPr>
        <p:spPr>
          <a:xfrm>
            <a:off x="4974987" y="3683000"/>
            <a:ext cx="164449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Matplotlib</a:t>
            </a:r>
            <a:endParaRPr lang="en-US" sz="2000" dirty="0"/>
          </a:p>
        </p:txBody>
      </p:sp>
      <p:sp>
        <p:nvSpPr>
          <p:cNvPr id="27" name="Text 20"/>
          <p:cNvSpPr/>
          <p:nvPr/>
        </p:nvSpPr>
        <p:spPr>
          <a:xfrm>
            <a:off x="4593987" y="4038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3.11</a:t>
            </a:r>
            <a:endParaRPr lang="en-US" sz="1200" dirty="0"/>
          </a:p>
        </p:txBody>
      </p:sp>
      <p:sp>
        <p:nvSpPr>
          <p:cNvPr id="28" name="Text 21"/>
          <p:cNvSpPr/>
          <p:nvPr/>
        </p:nvSpPr>
        <p:spPr>
          <a:xfrm>
            <a:off x="4593987" y="4302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Draws every diagram and exports PNG, SVG and PDF.</a:t>
            </a:r>
            <a:endParaRPr lang="en-US" sz="1300" dirty="0"/>
          </a:p>
        </p:txBody>
      </p:sp>
      <p:sp>
        <p:nvSpPr>
          <p:cNvPr id="29" name="Shape 22"/>
          <p:cNvSpPr/>
          <p:nvPr/>
        </p:nvSpPr>
        <p:spPr>
          <a:xfrm>
            <a:off x="7961789" y="3477896"/>
            <a:ext cx="3414157" cy="1492250"/>
          </a:xfrm>
          <a:prstGeom prst="roundRect">
            <a:avLst>
              <a:gd name="adj" fmla="val 6596"/>
            </a:avLst>
          </a:prstGeom>
          <a:solidFill>
            <a:srgbClr val="FFFDF9"/>
          </a:solidFill>
          <a:ln w="6350">
            <a:solidFill>
              <a:srgbClr val="E2DED4"/>
            </a:solidFill>
            <a:prstDash val="solid"/>
          </a:ln>
        </p:spPr>
      </p:sp>
      <p:pic>
        <p:nvPicPr>
          <p:cNvPr id="30" name="Image 5" descr="Book">    </p:cNvPr>
          <p:cNvPicPr>
            <a:picLocks noChangeAspect="1"/>
          </p:cNvPicPr>
          <p:nvPr/>
        </p:nvPicPr>
        <p:blipFill>
          <a:blip r:embed="rId6"/>
          <a:srcRect l="0" r="0" t="0" b="0"/>
          <a:stretch/>
        </p:blipFill>
        <p:spPr>
          <a:xfrm>
            <a:off x="8166894" y="3695700"/>
            <a:ext cx="279400" cy="279400"/>
          </a:xfrm>
          <a:prstGeom prst="rect">
            <a:avLst/>
          </a:prstGeom>
        </p:spPr>
      </p:pic>
      <p:sp>
        <p:nvSpPr>
          <p:cNvPr id="31" name="Text 23"/>
          <p:cNvSpPr/>
          <p:nvPr/>
        </p:nvSpPr>
        <p:spPr>
          <a:xfrm>
            <a:off x="8547894" y="3683000"/>
            <a:ext cx="14347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62B"/>
                </a:solidFill>
                <a:latin typeface="Georgia" pitchFamily="18" charset="0"/>
                <a:ea typeface="Georgia" pitchFamily="18" charset="-122"/>
                <a:cs typeface="Georgia" pitchFamily="18" charset="-120"/>
              </a:rPr>
              <a:t>openpyxl</a:t>
            </a:r>
            <a:endParaRPr lang="en-US" sz="2000" dirty="0"/>
          </a:p>
        </p:txBody>
      </p:sp>
      <p:sp>
        <p:nvSpPr>
          <p:cNvPr id="32" name="Text 24"/>
          <p:cNvSpPr/>
          <p:nvPr/>
        </p:nvSpPr>
        <p:spPr>
          <a:xfrm>
            <a:off x="8166894" y="4038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418"/>
                </a:solidFill>
                <a:latin typeface="Arial" pitchFamily="34" charset="0"/>
                <a:ea typeface="Arial" pitchFamily="34" charset="-122"/>
                <a:cs typeface="Arial" pitchFamily="34" charset="-120"/>
              </a:rPr>
              <a:t>3.1</a:t>
            </a:r>
            <a:endParaRPr lang="en-US" sz="1200" dirty="0"/>
          </a:p>
        </p:txBody>
      </p:sp>
      <p:sp>
        <p:nvSpPr>
          <p:cNvPr id="33" name="Text 25"/>
          <p:cNvSpPr/>
          <p:nvPr/>
        </p:nvSpPr>
        <p:spPr>
          <a:xfrm>
            <a:off x="8166894" y="4302761"/>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E"/>
                </a:solidFill>
                <a:latin typeface="Arial" pitchFamily="34" charset="0"/>
                <a:ea typeface="Arial" pitchFamily="34" charset="-122"/>
                <a:cs typeface="Arial" pitchFamily="34" charset="-120"/>
              </a:rPr>
              <a:t>Reads Excel (.xlsx) files straight from the lab.</a:t>
            </a:r>
            <a:endParaRPr lang="en-US" sz="1300" dirty="0"/>
          </a:p>
        </p:txBody>
      </p:sp>
      <p:sp>
        <p:nvSpPr>
          <p:cNvPr id="34" name="Text 26"/>
          <p:cNvSpPr/>
          <p:nvPr/>
        </p:nvSpPr>
        <p:spPr>
          <a:xfrm>
            <a:off x="812800" y="6236971"/>
            <a:ext cx="42591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All open source · versions pinned in requirements.txt</a:t>
            </a:r>
            <a:endParaRPr lang="en-US" sz="1200" dirty="0"/>
          </a:p>
        </p:txBody>
      </p:sp>
      <p:sp>
        <p:nvSpPr>
          <p:cNvPr id="35" name="Text 27"/>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Built with: development and deployment</a:t>
            </a:r>
            <a:endParaRPr lang="en-US" sz="3200" dirty="0"/>
          </a:p>
        </p:txBody>
      </p:sp>
      <p:sp>
        <p:nvSpPr>
          <p:cNvPr id="4" name="Shape 2"/>
          <p:cNvSpPr/>
          <p:nvPr/>
        </p:nvSpPr>
        <p:spPr>
          <a:xfrm>
            <a:off x="815975" y="1826896"/>
            <a:ext cx="2254250" cy="2000250"/>
          </a:xfrm>
          <a:prstGeom prst="roundRect">
            <a:avLst>
              <a:gd name="adj" fmla="val 4921"/>
            </a:avLst>
          </a:prstGeom>
          <a:solidFill>
            <a:srgbClr val="FFFDF9"/>
          </a:solidFill>
          <a:ln w="6350">
            <a:solidFill>
              <a:srgbClr val="E2DED4"/>
            </a:solidFill>
            <a:prstDash val="solid"/>
          </a:ln>
        </p:spPr>
      </p:sp>
      <p:pic>
        <p:nvPicPr>
          <p:cNvPr id="5" name="Image 0" descr="Code">    </p:cNvPr>
          <p:cNvPicPr>
            <a:picLocks noChangeAspect="1"/>
          </p:cNvPicPr>
          <p:nvPr/>
        </p:nvPicPr>
        <p:blipFill>
          <a:blip r:embed="rId1"/>
          <a:srcRect l="0" r="0" t="0" b="0"/>
          <a:stretch/>
        </p:blipFill>
        <p:spPr>
          <a:xfrm>
            <a:off x="1021080" y="2032000"/>
            <a:ext cx="279400" cy="279400"/>
          </a:xfrm>
          <a:prstGeom prst="rect">
            <a:avLst/>
          </a:prstGeom>
        </p:spPr>
      </p:pic>
      <p:sp>
        <p:nvSpPr>
          <p:cNvPr id="6" name="Text 3"/>
          <p:cNvSpPr/>
          <p:nvPr/>
        </p:nvSpPr>
        <p:spPr>
          <a:xfrm>
            <a:off x="1021080" y="2387600"/>
            <a:ext cx="18993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My laptop</a:t>
            </a:r>
            <a:endParaRPr lang="en-US" sz="1600" dirty="0"/>
          </a:p>
        </p:txBody>
      </p:sp>
      <p:sp>
        <p:nvSpPr>
          <p:cNvPr id="7" name="Text 4"/>
          <p:cNvSpPr/>
          <p:nvPr/>
        </p:nvSpPr>
        <p:spPr>
          <a:xfrm>
            <a:off x="1021080" y="2707639"/>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Write and test the code in a Python virtual environment.</a:t>
            </a:r>
            <a:endParaRPr lang="en-US" sz="1200" dirty="0"/>
          </a:p>
        </p:txBody>
      </p:sp>
      <p:pic>
        <p:nvPicPr>
          <p:cNvPr id="8" name="Image 1" descr="arrow-right">    </p:cNvPr>
          <p:cNvPicPr>
            <a:picLocks noChangeAspect="1"/>
          </p:cNvPicPr>
          <p:nvPr/>
        </p:nvPicPr>
        <p:blipFill>
          <a:blip r:embed="rId2"/>
          <a:srcRect l="0" r="0" t="0" b="0"/>
          <a:stretch/>
        </p:blipFill>
        <p:spPr>
          <a:xfrm>
            <a:off x="3175000" y="2750821"/>
            <a:ext cx="304800" cy="152400"/>
          </a:xfrm>
          <a:prstGeom prst="rect">
            <a:avLst/>
          </a:prstGeom>
        </p:spPr>
      </p:pic>
      <p:sp>
        <p:nvSpPr>
          <p:cNvPr id="9" name="Shape 5"/>
          <p:cNvSpPr/>
          <p:nvPr/>
        </p:nvSpPr>
        <p:spPr>
          <a:xfrm>
            <a:off x="3584575" y="1826896"/>
            <a:ext cx="2254250" cy="2000250"/>
          </a:xfrm>
          <a:prstGeom prst="roundRect">
            <a:avLst>
              <a:gd name="adj" fmla="val 4921"/>
            </a:avLst>
          </a:prstGeom>
          <a:solidFill>
            <a:srgbClr val="FFFDF9"/>
          </a:solidFill>
          <a:ln w="6350">
            <a:solidFill>
              <a:srgbClr val="E2DED4"/>
            </a:solidFill>
            <a:prstDash val="solid"/>
          </a:ln>
        </p:spPr>
      </p:sp>
      <p:pic>
        <p:nvPicPr>
          <p:cNvPr id="10" name="Image 2" descr="Link">    </p:cNvPr>
          <p:cNvPicPr>
            <a:picLocks noChangeAspect="1"/>
          </p:cNvPicPr>
          <p:nvPr/>
        </p:nvPicPr>
        <p:blipFill>
          <a:blip r:embed="rId3"/>
          <a:srcRect l="0" r="0" t="0" b="0"/>
          <a:stretch/>
        </p:blipFill>
        <p:spPr>
          <a:xfrm>
            <a:off x="3789680" y="2032000"/>
            <a:ext cx="279400" cy="279400"/>
          </a:xfrm>
          <a:prstGeom prst="rect">
            <a:avLst/>
          </a:prstGeom>
        </p:spPr>
      </p:pic>
      <p:sp>
        <p:nvSpPr>
          <p:cNvPr id="11" name="Text 6"/>
          <p:cNvSpPr/>
          <p:nvPr/>
        </p:nvSpPr>
        <p:spPr>
          <a:xfrm>
            <a:off x="3789680" y="2387600"/>
            <a:ext cx="18993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GitHub</a:t>
            </a:r>
            <a:endParaRPr lang="en-US" sz="1600" dirty="0"/>
          </a:p>
        </p:txBody>
      </p:sp>
      <p:sp>
        <p:nvSpPr>
          <p:cNvPr id="12" name="Text 7"/>
          <p:cNvSpPr/>
          <p:nvPr/>
        </p:nvSpPr>
        <p:spPr>
          <a:xfrm>
            <a:off x="3789680" y="2707639"/>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Public repository. Commit and push with GitHub Desktop.</a:t>
            </a:r>
            <a:endParaRPr lang="en-US" sz="1200" dirty="0"/>
          </a:p>
        </p:txBody>
      </p:sp>
      <p:pic>
        <p:nvPicPr>
          <p:cNvPr id="13" name="Image 3" descr="arrow-right">    </p:cNvPr>
          <p:cNvPicPr>
            <a:picLocks noChangeAspect="1"/>
          </p:cNvPicPr>
          <p:nvPr/>
        </p:nvPicPr>
        <p:blipFill>
          <a:blip r:embed="rId4"/>
          <a:srcRect l="0" r="0" t="0" b="0"/>
          <a:stretch/>
        </p:blipFill>
        <p:spPr>
          <a:xfrm>
            <a:off x="5943600" y="2750821"/>
            <a:ext cx="304800" cy="152400"/>
          </a:xfrm>
          <a:prstGeom prst="rect">
            <a:avLst/>
          </a:prstGeom>
        </p:spPr>
      </p:pic>
      <p:sp>
        <p:nvSpPr>
          <p:cNvPr id="14" name="Shape 8"/>
          <p:cNvSpPr/>
          <p:nvPr/>
        </p:nvSpPr>
        <p:spPr>
          <a:xfrm>
            <a:off x="6353175" y="1826896"/>
            <a:ext cx="2254250" cy="2000250"/>
          </a:xfrm>
          <a:prstGeom prst="roundRect">
            <a:avLst>
              <a:gd name="adj" fmla="val 4921"/>
            </a:avLst>
          </a:prstGeom>
          <a:solidFill>
            <a:srgbClr val="FFFDF9"/>
          </a:solidFill>
          <a:ln w="6350">
            <a:solidFill>
              <a:srgbClr val="E2DED4"/>
            </a:solidFill>
            <a:prstDash val="solid"/>
          </a:ln>
        </p:spPr>
      </p:sp>
      <p:pic>
        <p:nvPicPr>
          <p:cNvPr id="15" name="Image 4" descr="Cloud">    </p:cNvPr>
          <p:cNvPicPr>
            <a:picLocks noChangeAspect="1"/>
          </p:cNvPicPr>
          <p:nvPr/>
        </p:nvPicPr>
        <p:blipFill>
          <a:blip r:embed="rId5"/>
          <a:srcRect l="0" r="0" t="0" b="0"/>
          <a:stretch/>
        </p:blipFill>
        <p:spPr>
          <a:xfrm>
            <a:off x="6558280" y="2032000"/>
            <a:ext cx="279400" cy="279400"/>
          </a:xfrm>
          <a:prstGeom prst="rect">
            <a:avLst/>
          </a:prstGeom>
        </p:spPr>
      </p:pic>
      <p:sp>
        <p:nvSpPr>
          <p:cNvPr id="16" name="Text 9"/>
          <p:cNvSpPr/>
          <p:nvPr/>
        </p:nvSpPr>
        <p:spPr>
          <a:xfrm>
            <a:off x="6558280" y="2387600"/>
            <a:ext cx="1899361"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Streamlit Community Cloud</a:t>
            </a:r>
            <a:endParaRPr lang="en-US" sz="1600" dirty="0"/>
          </a:p>
        </p:txBody>
      </p:sp>
      <p:sp>
        <p:nvSpPr>
          <p:cNvPr id="17" name="Text 10"/>
          <p:cNvSpPr/>
          <p:nvPr/>
        </p:nvSpPr>
        <p:spPr>
          <a:xfrm>
            <a:off x="6558280" y="3195321"/>
            <a:ext cx="18993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Rebuilds the online app from the main branch, free.</a:t>
            </a:r>
            <a:endParaRPr lang="en-US" sz="1200" dirty="0"/>
          </a:p>
        </p:txBody>
      </p:sp>
      <p:pic>
        <p:nvPicPr>
          <p:cNvPr id="18" name="Image 5" descr="arrow-right">    </p:cNvPr>
          <p:cNvPicPr>
            <a:picLocks noChangeAspect="1"/>
          </p:cNvPicPr>
          <p:nvPr/>
        </p:nvPicPr>
        <p:blipFill>
          <a:blip r:embed="rId6"/>
          <a:srcRect l="0" r="0" t="0" b="0"/>
          <a:stretch/>
        </p:blipFill>
        <p:spPr>
          <a:xfrm>
            <a:off x="8712200" y="2750821"/>
            <a:ext cx="304800" cy="152400"/>
          </a:xfrm>
          <a:prstGeom prst="rect">
            <a:avLst/>
          </a:prstGeom>
        </p:spPr>
      </p:pic>
      <p:sp>
        <p:nvSpPr>
          <p:cNvPr id="19" name="Shape 11"/>
          <p:cNvSpPr/>
          <p:nvPr/>
        </p:nvSpPr>
        <p:spPr>
          <a:xfrm>
            <a:off x="9121775" y="1826896"/>
            <a:ext cx="2254250" cy="2000250"/>
          </a:xfrm>
          <a:prstGeom prst="roundRect">
            <a:avLst>
              <a:gd name="adj" fmla="val 4921"/>
            </a:avLst>
          </a:prstGeom>
          <a:solidFill>
            <a:srgbClr val="FFFDF9"/>
          </a:solidFill>
          <a:ln w="6350">
            <a:solidFill>
              <a:srgbClr val="E2DED4"/>
            </a:solidFill>
            <a:prstDash val="solid"/>
          </a:ln>
        </p:spPr>
      </p:sp>
      <p:pic>
        <p:nvPicPr>
          <p:cNvPr id="20" name="Image 6" descr="Users">    </p:cNvPr>
          <p:cNvPicPr>
            <a:picLocks noChangeAspect="1"/>
          </p:cNvPicPr>
          <p:nvPr/>
        </p:nvPicPr>
        <p:blipFill>
          <a:blip r:embed="rId7"/>
          <a:srcRect l="0" r="0" t="0" b="0"/>
          <a:stretch/>
        </p:blipFill>
        <p:spPr>
          <a:xfrm>
            <a:off x="9326880" y="2032000"/>
            <a:ext cx="279400" cy="279400"/>
          </a:xfrm>
          <a:prstGeom prst="rect">
            <a:avLst/>
          </a:prstGeom>
        </p:spPr>
      </p:pic>
      <p:sp>
        <p:nvSpPr>
          <p:cNvPr id="21" name="Text 12"/>
          <p:cNvSpPr/>
          <p:nvPr/>
        </p:nvSpPr>
        <p:spPr>
          <a:xfrm>
            <a:off x="9326880" y="2387600"/>
            <a:ext cx="18993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Users</a:t>
            </a:r>
            <a:endParaRPr lang="en-US" sz="1600" dirty="0"/>
          </a:p>
        </p:txBody>
      </p:sp>
      <p:sp>
        <p:nvSpPr>
          <p:cNvPr id="22" name="Text 13"/>
          <p:cNvSpPr/>
          <p:nvPr/>
        </p:nvSpPr>
        <p:spPr>
          <a:xfrm>
            <a:off x="9326880" y="2707639"/>
            <a:ext cx="18993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Open the app link in any browser, on any device.</a:t>
            </a:r>
            <a:endParaRPr lang="en-US" sz="1200" dirty="0"/>
          </a:p>
        </p:txBody>
      </p:sp>
      <p:sp>
        <p:nvSpPr>
          <p:cNvPr id="23" name="Shape 14"/>
          <p:cNvSpPr/>
          <p:nvPr/>
        </p:nvSpPr>
        <p:spPr>
          <a:xfrm>
            <a:off x="825500" y="4084321"/>
            <a:ext cx="0" cy="955040"/>
          </a:xfrm>
          <a:prstGeom prst="line">
            <a:avLst/>
          </a:prstGeom>
          <a:noFill/>
          <a:ln w="25400">
            <a:solidFill>
              <a:srgbClr val="9C5418"/>
            </a:solidFill>
            <a:prstDash val="solid"/>
          </a:ln>
        </p:spPr>
      </p:sp>
      <p:sp>
        <p:nvSpPr>
          <p:cNvPr id="24" name="Text 15"/>
          <p:cNvSpPr/>
          <p:nvPr/>
        </p:nvSpPr>
        <p:spPr>
          <a:xfrm>
            <a:off x="990600" y="4109721"/>
            <a:ext cx="24199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62B"/>
                </a:solidFill>
                <a:latin typeface="Arial" pitchFamily="34" charset="0"/>
                <a:ea typeface="Arial" pitchFamily="34" charset="-122"/>
                <a:cs typeface="Arial" pitchFamily="34" charset="-120"/>
              </a:rPr>
              <a:t>Portable ZIP</a:t>
            </a:r>
            <a:endParaRPr lang="en-US" sz="1400" dirty="0"/>
          </a:p>
        </p:txBody>
      </p:sp>
      <p:sp>
        <p:nvSpPr>
          <p:cNvPr id="25" name="Text 16"/>
          <p:cNvSpPr/>
          <p:nvPr/>
        </p:nvSpPr>
        <p:spPr>
          <a:xfrm>
            <a:off x="990600" y="4373882"/>
            <a:ext cx="24199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Embeddable Python 3.12 with the libraries; runs offline on Windows.</a:t>
            </a:r>
            <a:endParaRPr lang="en-US" sz="1200" dirty="0"/>
          </a:p>
        </p:txBody>
      </p:sp>
      <p:sp>
        <p:nvSpPr>
          <p:cNvPr id="26" name="Shape 17"/>
          <p:cNvSpPr/>
          <p:nvPr/>
        </p:nvSpPr>
        <p:spPr>
          <a:xfrm>
            <a:off x="3505200" y="4084321"/>
            <a:ext cx="0" cy="955040"/>
          </a:xfrm>
          <a:prstGeom prst="line">
            <a:avLst/>
          </a:prstGeom>
          <a:noFill/>
          <a:ln w="25400">
            <a:solidFill>
              <a:srgbClr val="9C5418"/>
            </a:solidFill>
            <a:prstDash val="solid"/>
          </a:ln>
        </p:spPr>
      </p:sp>
      <p:sp>
        <p:nvSpPr>
          <p:cNvPr id="27" name="Text 18"/>
          <p:cNvSpPr/>
          <p:nvPr/>
        </p:nvSpPr>
        <p:spPr>
          <a:xfrm>
            <a:off x="3670300" y="4109721"/>
            <a:ext cx="24199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62B"/>
                </a:solidFill>
                <a:latin typeface="Arial" pitchFamily="34" charset="0"/>
                <a:ea typeface="Arial" pitchFamily="34" charset="-122"/>
                <a:cs typeface="Arial" pitchFamily="34" charset="-120"/>
              </a:rPr>
              <a:t>Maintenance mode</a:t>
            </a:r>
            <a:endParaRPr lang="en-US" sz="1400" dirty="0"/>
          </a:p>
        </p:txBody>
      </p:sp>
      <p:sp>
        <p:nvSpPr>
          <p:cNvPr id="28" name="Text 19"/>
          <p:cNvSpPr/>
          <p:nvPr/>
        </p:nvSpPr>
        <p:spPr>
          <a:xfrm>
            <a:off x="3670300" y="4373882"/>
            <a:ext cx="24199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Switched on from Streamlit Secrets during critical updates.</a:t>
            </a:r>
            <a:endParaRPr lang="en-US" sz="1200" dirty="0"/>
          </a:p>
        </p:txBody>
      </p:sp>
      <p:sp>
        <p:nvSpPr>
          <p:cNvPr id="29" name="Shape 20"/>
          <p:cNvSpPr/>
          <p:nvPr/>
        </p:nvSpPr>
        <p:spPr>
          <a:xfrm>
            <a:off x="6184900" y="4084321"/>
            <a:ext cx="0" cy="955040"/>
          </a:xfrm>
          <a:prstGeom prst="line">
            <a:avLst/>
          </a:prstGeom>
          <a:noFill/>
          <a:ln w="25400">
            <a:solidFill>
              <a:srgbClr val="9C5418"/>
            </a:solidFill>
            <a:prstDash val="solid"/>
          </a:ln>
        </p:spPr>
      </p:sp>
      <p:sp>
        <p:nvSpPr>
          <p:cNvPr id="30" name="Text 21"/>
          <p:cNvSpPr/>
          <p:nvPr/>
        </p:nvSpPr>
        <p:spPr>
          <a:xfrm>
            <a:off x="6350000" y="4109721"/>
            <a:ext cx="24199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62B"/>
                </a:solidFill>
                <a:latin typeface="Arial" pitchFamily="34" charset="0"/>
                <a:ea typeface="Arial" pitchFamily="34" charset="-122"/>
                <a:cs typeface="Arial" pitchFamily="34" charset="-120"/>
              </a:rPr>
              <a:t>Documentation</a:t>
            </a:r>
            <a:endParaRPr lang="en-US" sz="1400" dirty="0"/>
          </a:p>
        </p:txBody>
      </p:sp>
      <p:sp>
        <p:nvSpPr>
          <p:cNvPr id="31" name="Text 22"/>
          <p:cNvSpPr/>
          <p:nvPr/>
        </p:nvSpPr>
        <p:spPr>
          <a:xfrm>
            <a:off x="6350000" y="4373882"/>
            <a:ext cx="241998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Markdown manual; diagrams drawn with Graphviz and Mermaid.</a:t>
            </a:r>
            <a:endParaRPr lang="en-US" sz="1200" dirty="0"/>
          </a:p>
        </p:txBody>
      </p:sp>
      <p:sp>
        <p:nvSpPr>
          <p:cNvPr id="32" name="Shape 23"/>
          <p:cNvSpPr/>
          <p:nvPr/>
        </p:nvSpPr>
        <p:spPr>
          <a:xfrm>
            <a:off x="8864600" y="4084321"/>
            <a:ext cx="0" cy="955040"/>
          </a:xfrm>
          <a:prstGeom prst="line">
            <a:avLst/>
          </a:prstGeom>
          <a:noFill/>
          <a:ln w="25400">
            <a:solidFill>
              <a:srgbClr val="9C5418"/>
            </a:solidFill>
            <a:prstDash val="solid"/>
          </a:ln>
        </p:spPr>
      </p:sp>
      <p:sp>
        <p:nvSpPr>
          <p:cNvPr id="33" name="Text 24"/>
          <p:cNvSpPr/>
          <p:nvPr/>
        </p:nvSpPr>
        <p:spPr>
          <a:xfrm>
            <a:off x="9029700" y="4109721"/>
            <a:ext cx="24199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62B"/>
                </a:solidFill>
                <a:latin typeface="Arial" pitchFamily="34" charset="0"/>
                <a:ea typeface="Arial" pitchFamily="34" charset="-122"/>
                <a:cs typeface="Arial" pitchFamily="34" charset="-120"/>
              </a:rPr>
              <a:t>GPL-3.0 licence</a:t>
            </a:r>
            <a:endParaRPr lang="en-US" sz="1400" dirty="0"/>
          </a:p>
        </p:txBody>
      </p:sp>
      <p:sp>
        <p:nvSpPr>
          <p:cNvPr id="34" name="Text 25"/>
          <p:cNvSpPr/>
          <p:nvPr/>
        </p:nvSpPr>
        <p:spPr>
          <a:xfrm>
            <a:off x="9029700" y="4373882"/>
            <a:ext cx="24199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E"/>
                </a:solidFill>
                <a:latin typeface="Arial" pitchFamily="34" charset="0"/>
                <a:ea typeface="Arial" pitchFamily="34" charset="-122"/>
                <a:cs typeface="Arial" pitchFamily="34" charset="-120"/>
              </a:rPr>
              <a:t>Free to use, study, share and change; derived work stays open.</a:t>
            </a:r>
            <a:endParaRPr lang="en-US" sz="1200" dirty="0"/>
          </a:p>
        </p:txBody>
      </p:sp>
      <p:sp>
        <p:nvSpPr>
          <p:cNvPr id="35" name="Text 26"/>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36" name="Text 27"/>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From data file to figure</a:t>
            </a:r>
            <a:endParaRPr lang="en-US" sz="3200" dirty="0"/>
          </a:p>
        </p:txBody>
      </p:sp>
      <p:sp>
        <p:nvSpPr>
          <p:cNvPr id="4" name="Shape 2"/>
          <p:cNvSpPr/>
          <p:nvPr/>
        </p:nvSpPr>
        <p:spPr>
          <a:xfrm>
            <a:off x="815975" y="1826896"/>
            <a:ext cx="3414157" cy="1646555"/>
          </a:xfrm>
          <a:prstGeom prst="roundRect">
            <a:avLst>
              <a:gd name="adj" fmla="val 5978"/>
            </a:avLst>
          </a:prstGeom>
          <a:solidFill>
            <a:srgbClr val="FFFDF9"/>
          </a:solidFill>
          <a:ln w="6350">
            <a:solidFill>
              <a:srgbClr val="E2DED4"/>
            </a:solidFill>
            <a:prstDash val="solid"/>
          </a:ln>
        </p:spPr>
      </p:sp>
      <p:sp>
        <p:nvSpPr>
          <p:cNvPr id="5" name="Text 3"/>
          <p:cNvSpPr/>
          <p:nvPr/>
        </p:nvSpPr>
        <p:spPr>
          <a:xfrm>
            <a:off x="1046480" y="2057400"/>
            <a:ext cx="18764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1</a:t>
            </a:r>
            <a:endParaRPr lang="en-US" sz="2200" dirty="0"/>
          </a:p>
        </p:txBody>
      </p:sp>
      <p:sp>
        <p:nvSpPr>
          <p:cNvPr id="6" name="Text 4"/>
          <p:cNvSpPr/>
          <p:nvPr/>
        </p:nvSpPr>
        <p:spPr>
          <a:xfrm>
            <a:off x="1310323" y="2133600"/>
            <a:ext cx="7209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Read</a:t>
            </a:r>
            <a:endParaRPr lang="en-US" sz="1800" dirty="0"/>
          </a:p>
        </p:txBody>
      </p:sp>
      <p:sp>
        <p:nvSpPr>
          <p:cNvPr id="7" name="Text 5"/>
          <p:cNvSpPr/>
          <p:nvPr/>
        </p:nvSpPr>
        <p:spPr>
          <a:xfrm>
            <a:off x="1046480" y="2524761"/>
            <a:ext cx="3041741"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CSV or Excel file into a table, from any header row.</a:t>
            </a:r>
            <a:endParaRPr lang="en-US" sz="1300" dirty="0"/>
          </a:p>
        </p:txBody>
      </p:sp>
      <p:sp>
        <p:nvSpPr>
          <p:cNvPr id="8" name="Shape 6"/>
          <p:cNvSpPr/>
          <p:nvPr/>
        </p:nvSpPr>
        <p:spPr>
          <a:xfrm>
            <a:off x="4388882" y="1826896"/>
            <a:ext cx="3414157" cy="1646555"/>
          </a:xfrm>
          <a:prstGeom prst="roundRect">
            <a:avLst>
              <a:gd name="adj" fmla="val 5978"/>
            </a:avLst>
          </a:prstGeom>
          <a:solidFill>
            <a:srgbClr val="FFFDF9"/>
          </a:solidFill>
          <a:ln w="6350">
            <a:solidFill>
              <a:srgbClr val="E2DED4"/>
            </a:solidFill>
            <a:prstDash val="solid"/>
          </a:ln>
        </p:spPr>
      </p:sp>
      <p:sp>
        <p:nvSpPr>
          <p:cNvPr id="9" name="Text 7"/>
          <p:cNvSpPr/>
          <p:nvPr/>
        </p:nvSpPr>
        <p:spPr>
          <a:xfrm>
            <a:off x="4619387" y="2057400"/>
            <a:ext cx="2259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2</a:t>
            </a:r>
            <a:endParaRPr lang="en-US" sz="2200" dirty="0"/>
          </a:p>
        </p:txBody>
      </p:sp>
      <p:sp>
        <p:nvSpPr>
          <p:cNvPr id="10" name="Text 8"/>
          <p:cNvSpPr/>
          <p:nvPr/>
        </p:nvSpPr>
        <p:spPr>
          <a:xfrm>
            <a:off x="4921488" y="2133600"/>
            <a:ext cx="8001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Clean</a:t>
            </a:r>
            <a:endParaRPr lang="en-US" sz="1800" dirty="0"/>
          </a:p>
        </p:txBody>
      </p:sp>
      <p:sp>
        <p:nvSpPr>
          <p:cNvPr id="11" name="Text 9"/>
          <p:cNvSpPr/>
          <p:nvPr/>
        </p:nvSpPr>
        <p:spPr>
          <a:xfrm>
            <a:off x="4619387" y="2524761"/>
            <a:ext cx="30417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&lt;0.01, bdl and n.d. become missing values, never zero. Decimal commas are read.</a:t>
            </a:r>
            <a:endParaRPr lang="en-US" sz="1300" dirty="0"/>
          </a:p>
        </p:txBody>
      </p:sp>
      <p:sp>
        <p:nvSpPr>
          <p:cNvPr id="12" name="Shape 10"/>
          <p:cNvSpPr/>
          <p:nvPr/>
        </p:nvSpPr>
        <p:spPr>
          <a:xfrm>
            <a:off x="7961789" y="1826896"/>
            <a:ext cx="3414157" cy="1646555"/>
          </a:xfrm>
          <a:prstGeom prst="roundRect">
            <a:avLst>
              <a:gd name="adj" fmla="val 5978"/>
            </a:avLst>
          </a:prstGeom>
          <a:solidFill>
            <a:srgbClr val="FFFDF9"/>
          </a:solidFill>
          <a:ln w="6350">
            <a:solidFill>
              <a:srgbClr val="E2DED4"/>
            </a:solidFill>
            <a:prstDash val="solid"/>
          </a:ln>
        </p:spPr>
      </p:sp>
      <p:sp>
        <p:nvSpPr>
          <p:cNvPr id="13" name="Text 11"/>
          <p:cNvSpPr/>
          <p:nvPr/>
        </p:nvSpPr>
        <p:spPr>
          <a:xfrm>
            <a:off x="8192294" y="2057400"/>
            <a:ext cx="22534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3</a:t>
            </a:r>
            <a:endParaRPr lang="en-US" sz="2200" dirty="0"/>
          </a:p>
        </p:txBody>
      </p:sp>
      <p:sp>
        <p:nvSpPr>
          <p:cNvPr id="14" name="Text 12"/>
          <p:cNvSpPr/>
          <p:nvPr/>
        </p:nvSpPr>
        <p:spPr>
          <a:xfrm>
            <a:off x="8493840" y="2133600"/>
            <a:ext cx="14377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Recognise</a:t>
            </a:r>
            <a:endParaRPr lang="en-US" sz="1800" dirty="0"/>
          </a:p>
        </p:txBody>
      </p:sp>
      <p:sp>
        <p:nvSpPr>
          <p:cNvPr id="15" name="Text 13"/>
          <p:cNvSpPr/>
          <p:nvPr/>
        </p:nvSpPr>
        <p:spPr>
          <a:xfrm>
            <a:off x="8192294" y="2524761"/>
            <a:ext cx="30417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Lab spellings become standard names (Fe2O3T → Fe2O3t); ppb and ppm are converted.</a:t>
            </a:r>
            <a:endParaRPr lang="en-US" sz="1300" dirty="0"/>
          </a:p>
        </p:txBody>
      </p:sp>
      <p:sp>
        <p:nvSpPr>
          <p:cNvPr id="16" name="Shape 14"/>
          <p:cNvSpPr/>
          <p:nvPr/>
        </p:nvSpPr>
        <p:spPr>
          <a:xfrm>
            <a:off x="815975" y="3632200"/>
            <a:ext cx="3414157" cy="1646555"/>
          </a:xfrm>
          <a:prstGeom prst="roundRect">
            <a:avLst>
              <a:gd name="adj" fmla="val 5978"/>
            </a:avLst>
          </a:prstGeom>
          <a:solidFill>
            <a:srgbClr val="FFFDF9"/>
          </a:solidFill>
          <a:ln w="6350">
            <a:solidFill>
              <a:srgbClr val="E2DED4"/>
            </a:solidFill>
            <a:prstDash val="solid"/>
          </a:ln>
        </p:spPr>
      </p:sp>
      <p:sp>
        <p:nvSpPr>
          <p:cNvPr id="17" name="Text 15"/>
          <p:cNvSpPr/>
          <p:nvPr/>
        </p:nvSpPr>
        <p:spPr>
          <a:xfrm>
            <a:off x="1046480" y="3862707"/>
            <a:ext cx="23225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4</a:t>
            </a:r>
            <a:endParaRPr lang="en-US" sz="2200" dirty="0"/>
          </a:p>
        </p:txBody>
      </p:sp>
      <p:sp>
        <p:nvSpPr>
          <p:cNvPr id="18" name="Text 16"/>
          <p:cNvSpPr/>
          <p:nvPr/>
        </p:nvSpPr>
        <p:spPr>
          <a:xfrm>
            <a:off x="1354931" y="3938907"/>
            <a:ext cx="13092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Calculate</a:t>
            </a:r>
            <a:endParaRPr lang="en-US" sz="1800" dirty="0"/>
          </a:p>
        </p:txBody>
      </p:sp>
      <p:sp>
        <p:nvSpPr>
          <p:cNvPr id="19" name="Text 17"/>
          <p:cNvSpPr/>
          <p:nvPr/>
        </p:nvSpPr>
        <p:spPr>
          <a:xfrm>
            <a:off x="1046480" y="4330067"/>
            <a:ext cx="30417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Axis formulas of the chosen diagram: anhydrous values, millications, CIPW norm.</a:t>
            </a:r>
            <a:endParaRPr lang="en-US" sz="1300" dirty="0"/>
          </a:p>
        </p:txBody>
      </p:sp>
      <p:sp>
        <p:nvSpPr>
          <p:cNvPr id="20" name="Shape 18"/>
          <p:cNvSpPr/>
          <p:nvPr/>
        </p:nvSpPr>
        <p:spPr>
          <a:xfrm>
            <a:off x="4388882" y="3632200"/>
            <a:ext cx="3414157" cy="1646555"/>
          </a:xfrm>
          <a:prstGeom prst="roundRect">
            <a:avLst>
              <a:gd name="adj" fmla="val 5978"/>
            </a:avLst>
          </a:prstGeom>
          <a:solidFill>
            <a:srgbClr val="FFFDF9"/>
          </a:solidFill>
          <a:ln w="6350">
            <a:solidFill>
              <a:srgbClr val="E2DED4"/>
            </a:solidFill>
            <a:prstDash val="solid"/>
          </a:ln>
        </p:spPr>
      </p:sp>
      <p:sp>
        <p:nvSpPr>
          <p:cNvPr id="21" name="Text 19"/>
          <p:cNvSpPr/>
          <p:nvPr/>
        </p:nvSpPr>
        <p:spPr>
          <a:xfrm>
            <a:off x="4619387" y="3862707"/>
            <a:ext cx="21820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5</a:t>
            </a:r>
            <a:endParaRPr lang="en-US" sz="2200" dirty="0"/>
          </a:p>
        </p:txBody>
      </p:sp>
      <p:sp>
        <p:nvSpPr>
          <p:cNvPr id="22" name="Text 20"/>
          <p:cNvSpPr/>
          <p:nvPr/>
        </p:nvSpPr>
        <p:spPr>
          <a:xfrm>
            <a:off x="4913789" y="3938907"/>
            <a:ext cx="7717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Draw</a:t>
            </a:r>
            <a:endParaRPr lang="en-US" sz="1800" dirty="0"/>
          </a:p>
        </p:txBody>
      </p:sp>
      <p:sp>
        <p:nvSpPr>
          <p:cNvPr id="23" name="Text 21"/>
          <p:cNvSpPr/>
          <p:nvPr/>
        </p:nvSpPr>
        <p:spPr>
          <a:xfrm>
            <a:off x="4619387" y="4330067"/>
            <a:ext cx="3041741"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One engine draws boundaries, fields and samples with group symbols.</a:t>
            </a:r>
            <a:endParaRPr lang="en-US" sz="1300" dirty="0"/>
          </a:p>
        </p:txBody>
      </p:sp>
      <p:sp>
        <p:nvSpPr>
          <p:cNvPr id="24" name="Shape 22"/>
          <p:cNvSpPr/>
          <p:nvPr/>
        </p:nvSpPr>
        <p:spPr>
          <a:xfrm>
            <a:off x="7961789" y="3632200"/>
            <a:ext cx="3414157" cy="1646555"/>
          </a:xfrm>
          <a:prstGeom prst="roundRect">
            <a:avLst>
              <a:gd name="adj" fmla="val 5978"/>
            </a:avLst>
          </a:prstGeom>
          <a:solidFill>
            <a:srgbClr val="FFFDF9"/>
          </a:solidFill>
          <a:ln w="6350">
            <a:solidFill>
              <a:srgbClr val="E2DED4"/>
            </a:solidFill>
            <a:prstDash val="solid"/>
          </a:ln>
        </p:spPr>
      </p:sp>
      <p:sp>
        <p:nvSpPr>
          <p:cNvPr id="25" name="Text 23"/>
          <p:cNvSpPr/>
          <p:nvPr/>
        </p:nvSpPr>
        <p:spPr>
          <a:xfrm>
            <a:off x="8192294" y="3862707"/>
            <a:ext cx="23185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560"/>
                </a:solidFill>
                <a:latin typeface="Georgia" pitchFamily="18" charset="0"/>
                <a:ea typeface="Georgia" pitchFamily="18" charset="-122"/>
                <a:cs typeface="Georgia" pitchFamily="18" charset="-120"/>
              </a:rPr>
              <a:t>6</a:t>
            </a:r>
            <a:endParaRPr lang="en-US" sz="2200" dirty="0"/>
          </a:p>
        </p:txBody>
      </p:sp>
      <p:sp>
        <p:nvSpPr>
          <p:cNvPr id="26" name="Text 24"/>
          <p:cNvSpPr/>
          <p:nvPr/>
        </p:nvSpPr>
        <p:spPr>
          <a:xfrm>
            <a:off x="8500349" y="3938907"/>
            <a:ext cx="109442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Classify</a:t>
            </a:r>
            <a:endParaRPr lang="en-US" sz="1800" dirty="0"/>
          </a:p>
        </p:txBody>
      </p:sp>
      <p:sp>
        <p:nvSpPr>
          <p:cNvPr id="27" name="Text 25"/>
          <p:cNvSpPr/>
          <p:nvPr/>
        </p:nvSpPr>
        <p:spPr>
          <a:xfrm>
            <a:off x="8192294" y="4330067"/>
            <a:ext cx="3041741"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Each sample is placed in its field; results export to CSV.</a:t>
            </a:r>
            <a:endParaRPr lang="en-US" sz="1300" dirty="0"/>
          </a:p>
        </p:txBody>
      </p:sp>
      <p:sp>
        <p:nvSpPr>
          <p:cNvPr id="28" name="Text 26"/>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29" name="Text 27"/>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FEATURES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Data import made easy</a:t>
            </a:r>
            <a:endParaRPr lang="en-US" sz="3200" dirty="0"/>
          </a:p>
        </p:txBody>
      </p:sp>
      <p:sp>
        <p:nvSpPr>
          <p:cNvPr id="4" name="Shape 2"/>
          <p:cNvSpPr/>
          <p:nvPr/>
        </p:nvSpPr>
        <p:spPr>
          <a:xfrm>
            <a:off x="825500" y="1823721"/>
            <a:ext cx="0" cy="773430"/>
          </a:xfrm>
          <a:prstGeom prst="line">
            <a:avLst/>
          </a:prstGeom>
          <a:noFill/>
          <a:ln w="25400">
            <a:solidFill>
              <a:srgbClr val="1A7560"/>
            </a:solidFill>
            <a:prstDash val="solid"/>
          </a:ln>
        </p:spPr>
      </p:sp>
      <p:sp>
        <p:nvSpPr>
          <p:cNvPr id="5" name="Text 3"/>
          <p:cNvSpPr/>
          <p:nvPr/>
        </p:nvSpPr>
        <p:spPr>
          <a:xfrm>
            <a:off x="990600" y="1823721"/>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Lab files as they are</a:t>
            </a:r>
            <a:endParaRPr lang="en-US" sz="1600" dirty="0"/>
          </a:p>
        </p:txBody>
      </p:sp>
      <p:sp>
        <p:nvSpPr>
          <p:cNvPr id="6" name="Text 4"/>
          <p:cNvSpPr/>
          <p:nvPr/>
        </p:nvSpPr>
        <p:spPr>
          <a:xfrm>
            <a:off x="990600" y="2118364"/>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Values like &lt;0.01 or bdl, decimal commas and unit rows are handled automatically.</a:t>
            </a:r>
            <a:endParaRPr lang="en-US" sz="1300" dirty="0"/>
          </a:p>
        </p:txBody>
      </p:sp>
      <p:sp>
        <p:nvSpPr>
          <p:cNvPr id="7" name="Shape 5"/>
          <p:cNvSpPr/>
          <p:nvPr/>
        </p:nvSpPr>
        <p:spPr>
          <a:xfrm>
            <a:off x="825500" y="2800350"/>
            <a:ext cx="0" cy="1012825"/>
          </a:xfrm>
          <a:prstGeom prst="line">
            <a:avLst/>
          </a:prstGeom>
          <a:noFill/>
          <a:ln w="25400">
            <a:solidFill>
              <a:srgbClr val="1A7560"/>
            </a:solidFill>
            <a:prstDash val="solid"/>
          </a:ln>
        </p:spPr>
      </p:sp>
      <p:sp>
        <p:nvSpPr>
          <p:cNvPr id="8" name="Text 6"/>
          <p:cNvSpPr/>
          <p:nvPr/>
        </p:nvSpPr>
        <p:spPr>
          <a:xfrm>
            <a:off x="990600" y="2800350"/>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Any file layout</a:t>
            </a:r>
            <a:endParaRPr lang="en-US" sz="1600" dirty="0"/>
          </a:p>
        </p:txBody>
      </p:sp>
      <p:sp>
        <p:nvSpPr>
          <p:cNvPr id="9" name="Text 7"/>
          <p:cNvSpPr/>
          <p:nvPr/>
        </p:nvSpPr>
        <p:spPr>
          <a:xfrm>
            <a:off x="990600" y="3094992"/>
            <a:ext cx="389813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Column setup marks sample names, rock types and units. Save it for the next file from the same lab.</a:t>
            </a:r>
            <a:endParaRPr lang="en-US" sz="1300" dirty="0"/>
          </a:p>
        </p:txBody>
      </p:sp>
      <p:sp>
        <p:nvSpPr>
          <p:cNvPr id="10" name="Shape 8"/>
          <p:cNvSpPr/>
          <p:nvPr/>
        </p:nvSpPr>
        <p:spPr>
          <a:xfrm>
            <a:off x="825500" y="4016375"/>
            <a:ext cx="0" cy="773430"/>
          </a:xfrm>
          <a:prstGeom prst="line">
            <a:avLst/>
          </a:prstGeom>
          <a:noFill/>
          <a:ln w="25400">
            <a:solidFill>
              <a:srgbClr val="1A7560"/>
            </a:solidFill>
            <a:prstDash val="solid"/>
          </a:ln>
        </p:spPr>
      </p:sp>
      <p:sp>
        <p:nvSpPr>
          <p:cNvPr id="11" name="Text 9"/>
          <p:cNvSpPr/>
          <p:nvPr/>
        </p:nvSpPr>
        <p:spPr>
          <a:xfrm>
            <a:off x="990600" y="4016375"/>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Nothing hidden</a:t>
            </a:r>
            <a:endParaRPr lang="en-US" sz="1600" dirty="0"/>
          </a:p>
        </p:txBody>
      </p:sp>
      <p:sp>
        <p:nvSpPr>
          <p:cNvPr id="12" name="Text 10"/>
          <p:cNvSpPr/>
          <p:nvPr/>
        </p:nvSpPr>
        <p:spPr>
          <a:xfrm>
            <a:off x="990600" y="4311017"/>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The Data check report lists every unit conversion and every cell set to missing.</a:t>
            </a:r>
            <a:endParaRPr lang="en-US" sz="1300" dirty="0"/>
          </a:p>
        </p:txBody>
      </p:sp>
      <p:sp>
        <p:nvSpPr>
          <p:cNvPr id="13" name="Shape 11"/>
          <p:cNvSpPr/>
          <p:nvPr/>
        </p:nvSpPr>
        <p:spPr>
          <a:xfrm>
            <a:off x="5130800" y="1823721"/>
            <a:ext cx="6248400" cy="4000500"/>
          </a:xfrm>
          <a:prstGeom prst="roundRect">
            <a:avLst>
              <a:gd name="adj" fmla="val 3175"/>
            </a:avLst>
          </a:prstGeom>
          <a:solidFill>
            <a:srgbClr val="E9E5DC"/>
          </a:solidFill>
          <a:ln/>
        </p:spPr>
      </p:sp>
      <p:pic>
        <p:nvPicPr>
          <p:cNvPr id="14" name="Image 0" descr="Data page of GeoChem App showing the Data check report">    </p:cNvPr>
          <p:cNvPicPr>
            <a:picLocks noChangeAspect="1"/>
          </p:cNvPicPr>
          <p:nvPr/>
        </p:nvPicPr>
        <p:blipFill>
          <a:blip r:embed="rId1"/>
          <a:srcRect l="0" r="0" t="0" b="0"/>
          <a:stretch/>
        </p:blipFill>
        <p:spPr>
          <a:xfrm>
            <a:off x="5257800" y="1950721"/>
            <a:ext cx="5994400" cy="3746500"/>
          </a:xfrm>
          <a:prstGeom prst="roundRect">
            <a:avLst>
              <a:gd name="adj" fmla="val 1356"/>
            </a:avLst>
          </a:prstGeom>
        </p:spPr>
      </p:pic>
      <p:sp>
        <p:nvSpPr>
          <p:cNvPr id="15" name="Text 12"/>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6" name="Text 13"/>
          <p:cNvSpPr/>
          <p:nvPr/>
        </p:nvSpPr>
        <p:spPr>
          <a:xfrm>
            <a:off x="11243628" y="623697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FEATURES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27 diagrams in 6 categories</a:t>
            </a:r>
            <a:endParaRPr lang="en-US" sz="3200" dirty="0"/>
          </a:p>
        </p:txBody>
      </p:sp>
      <p:sp>
        <p:nvSpPr>
          <p:cNvPr id="4" name="Text 2"/>
          <p:cNvSpPr/>
          <p:nvPr/>
        </p:nvSpPr>
        <p:spPr>
          <a:xfrm>
            <a:off x="812800" y="1823721"/>
            <a:ext cx="1151811"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Classification</a:t>
            </a:r>
            <a:endParaRPr lang="en-US" sz="1200" dirty="0"/>
          </a:p>
        </p:txBody>
      </p:sp>
      <p:sp>
        <p:nvSpPr>
          <p:cNvPr id="5" name="Text 3"/>
          <p:cNvSpPr/>
          <p:nvPr/>
        </p:nvSpPr>
        <p:spPr>
          <a:xfrm>
            <a:off x="2040811" y="1823721"/>
            <a:ext cx="1211104"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Magma series</a:t>
            </a:r>
            <a:endParaRPr lang="en-US" sz="1200" dirty="0"/>
          </a:p>
        </p:txBody>
      </p:sp>
      <p:sp>
        <p:nvSpPr>
          <p:cNvPr id="6" name="Text 4"/>
          <p:cNvSpPr/>
          <p:nvPr/>
        </p:nvSpPr>
        <p:spPr>
          <a:xfrm>
            <a:off x="3328114" y="1823721"/>
            <a:ext cx="948611"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Granitoids</a:t>
            </a:r>
            <a:endParaRPr lang="en-US" sz="1200" dirty="0"/>
          </a:p>
        </p:txBody>
      </p:sp>
      <p:sp>
        <p:nvSpPr>
          <p:cNvPr id="7" name="Text 5"/>
          <p:cNvSpPr/>
          <p:nvPr/>
        </p:nvSpPr>
        <p:spPr>
          <a:xfrm>
            <a:off x="812800" y="2240279"/>
            <a:ext cx="1736646"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Basalts and ophiolites</a:t>
            </a:r>
            <a:endParaRPr lang="en-US" sz="1200" dirty="0"/>
          </a:p>
        </p:txBody>
      </p:sp>
      <p:sp>
        <p:nvSpPr>
          <p:cNvPr id="8" name="Text 6"/>
          <p:cNvSpPr/>
          <p:nvPr/>
        </p:nvSpPr>
        <p:spPr>
          <a:xfrm>
            <a:off x="2625646" y="2240279"/>
            <a:ext cx="1346359"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Ultramafic rocks</a:t>
            </a:r>
            <a:endParaRPr lang="en-US" sz="1200" dirty="0"/>
          </a:p>
        </p:txBody>
      </p:sp>
      <p:sp>
        <p:nvSpPr>
          <p:cNvPr id="9" name="Text 7"/>
          <p:cNvSpPr/>
          <p:nvPr/>
        </p:nvSpPr>
        <p:spPr>
          <a:xfrm>
            <a:off x="812800" y="2656842"/>
            <a:ext cx="1996519" cy="340360"/>
          </a:xfrm>
          <a:prstGeom prst="roundRect">
            <a:avLst>
              <a:gd name="adj" fmla="val 50000"/>
            </a:avLst>
          </a:prstGeom>
          <a:solidFill>
            <a:srgbClr val="E1EFE9"/>
          </a:solidFill>
          <a:ln/>
        </p:spPr>
        <p:txBody>
          <a:bodyPr wrap="none" lIns="0" tIns="0" rIns="0" bIns="0" rtlCol="0" anchor="ctr">
            <a:normAutofit/>
          </a:bodyPr>
          <a:lstStyle/>
          <a:p>
            <a:pPr algn="ctr" indent="0" marL="0">
              <a:lnSpc>
                <a:spcPts val="1680"/>
              </a:lnSpc>
              <a:buNone/>
            </a:pPr>
            <a:r>
              <a:rPr lang="en-US" sz="1200" dirty="0">
                <a:solidFill>
                  <a:srgbClr val="17262B"/>
                </a:solidFill>
                <a:latin typeface="Arial" pitchFamily="34" charset="0"/>
                <a:ea typeface="Arial" pitchFamily="34" charset="-122"/>
                <a:cs typeface="Arial" pitchFamily="34" charset="-120"/>
              </a:rPr>
              <a:t>Weathering and alteration</a:t>
            </a:r>
            <a:endParaRPr lang="en-US" sz="1200" dirty="0"/>
          </a:p>
        </p:txBody>
      </p:sp>
      <p:sp>
        <p:nvSpPr>
          <p:cNvPr id="10" name="Shape 8"/>
          <p:cNvSpPr/>
          <p:nvPr/>
        </p:nvSpPr>
        <p:spPr>
          <a:xfrm>
            <a:off x="825500" y="3200400"/>
            <a:ext cx="0" cy="773430"/>
          </a:xfrm>
          <a:prstGeom prst="line">
            <a:avLst/>
          </a:prstGeom>
          <a:noFill/>
          <a:ln w="25400">
            <a:solidFill>
              <a:srgbClr val="1A7560"/>
            </a:solidFill>
            <a:prstDash val="solid"/>
          </a:ln>
        </p:spPr>
      </p:sp>
      <p:sp>
        <p:nvSpPr>
          <p:cNvPr id="11" name="Text 9"/>
          <p:cNvSpPr/>
          <p:nvPr/>
        </p:nvSpPr>
        <p:spPr>
          <a:xfrm>
            <a:off x="990600" y="3200400"/>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Widely used standards</a:t>
            </a:r>
            <a:endParaRPr lang="en-US" sz="1600" dirty="0"/>
          </a:p>
        </p:txBody>
      </p:sp>
      <p:sp>
        <p:nvSpPr>
          <p:cNvPr id="12" name="Text 10"/>
          <p:cNvSpPr/>
          <p:nvPr/>
        </p:nvSpPr>
        <p:spPr>
          <a:xfrm>
            <a:off x="990600" y="3495042"/>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IUGS classification such as TAS (Le Bas et al. 1986) and widely cited discrimination diagrams.</a:t>
            </a:r>
            <a:endParaRPr lang="en-US" sz="1300" dirty="0"/>
          </a:p>
        </p:txBody>
      </p:sp>
      <p:sp>
        <p:nvSpPr>
          <p:cNvPr id="13" name="Shape 11"/>
          <p:cNvSpPr/>
          <p:nvPr/>
        </p:nvSpPr>
        <p:spPr>
          <a:xfrm>
            <a:off x="825500" y="4177029"/>
            <a:ext cx="0" cy="1012825"/>
          </a:xfrm>
          <a:prstGeom prst="line">
            <a:avLst/>
          </a:prstGeom>
          <a:noFill/>
          <a:ln w="25400">
            <a:solidFill>
              <a:srgbClr val="1A7560"/>
            </a:solidFill>
            <a:prstDash val="solid"/>
          </a:ln>
        </p:spPr>
      </p:sp>
      <p:sp>
        <p:nvSpPr>
          <p:cNvPr id="14" name="Text 12"/>
          <p:cNvSpPr/>
          <p:nvPr/>
        </p:nvSpPr>
        <p:spPr>
          <a:xfrm>
            <a:off x="990600" y="4177029"/>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Results you can defend</a:t>
            </a:r>
            <a:endParaRPr lang="en-US" sz="1600" dirty="0"/>
          </a:p>
        </p:txBody>
      </p:sp>
      <p:sp>
        <p:nvSpPr>
          <p:cNvPr id="15" name="Text 13"/>
          <p:cNvSpPr/>
          <p:nvPr/>
        </p:nvSpPr>
        <p:spPr>
          <a:xfrm>
            <a:off x="990600" y="4471671"/>
            <a:ext cx="389813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Each sample gets its field name. The Scientific basis tab shows formulas, valid rock types and the original reference.</a:t>
            </a:r>
            <a:endParaRPr lang="en-US" sz="1300" dirty="0"/>
          </a:p>
        </p:txBody>
      </p:sp>
      <p:sp>
        <p:nvSpPr>
          <p:cNvPr id="16" name="Shape 14"/>
          <p:cNvSpPr/>
          <p:nvPr/>
        </p:nvSpPr>
        <p:spPr>
          <a:xfrm>
            <a:off x="5130800" y="1823721"/>
            <a:ext cx="6248400" cy="4000500"/>
          </a:xfrm>
          <a:prstGeom prst="roundRect">
            <a:avLst>
              <a:gd name="adj" fmla="val 3175"/>
            </a:avLst>
          </a:prstGeom>
          <a:solidFill>
            <a:srgbClr val="E9E5DC"/>
          </a:solidFill>
          <a:ln/>
        </p:spPr>
      </p:sp>
      <p:pic>
        <p:nvPicPr>
          <p:cNvPr id="17" name="Image 0" descr="Diagrams page of GeoChem App with the searchable diagram catalogue">    </p:cNvPr>
          <p:cNvPicPr>
            <a:picLocks noChangeAspect="1"/>
          </p:cNvPicPr>
          <p:nvPr/>
        </p:nvPicPr>
        <p:blipFill>
          <a:blip r:embed="rId1"/>
          <a:srcRect l="0" r="0" t="0" b="0"/>
          <a:stretch/>
        </p:blipFill>
        <p:spPr>
          <a:xfrm>
            <a:off x="5257800" y="1950721"/>
            <a:ext cx="5994400" cy="3746500"/>
          </a:xfrm>
          <a:prstGeom prst="roundRect">
            <a:avLst>
              <a:gd name="adj" fmla="val 1356"/>
            </a:avLst>
          </a:prstGeom>
        </p:spPr>
      </p:pic>
      <p:sp>
        <p:nvSpPr>
          <p:cNvPr id="18" name="Text 15"/>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9" name="Text 16"/>
          <p:cNvSpPr/>
          <p:nvPr/>
        </p:nvSpPr>
        <p:spPr>
          <a:xfrm>
            <a:off x="11158855" y="6236971"/>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FEATURES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Spider diagrams, norms and statistics</a:t>
            </a:r>
            <a:endParaRPr lang="en-US" sz="3200" dirty="0"/>
          </a:p>
        </p:txBody>
      </p:sp>
      <p:sp>
        <p:nvSpPr>
          <p:cNvPr id="4" name="Shape 2"/>
          <p:cNvSpPr/>
          <p:nvPr/>
        </p:nvSpPr>
        <p:spPr>
          <a:xfrm>
            <a:off x="825500" y="1823721"/>
            <a:ext cx="0" cy="1012825"/>
          </a:xfrm>
          <a:prstGeom prst="line">
            <a:avLst/>
          </a:prstGeom>
          <a:noFill/>
          <a:ln w="25400">
            <a:solidFill>
              <a:srgbClr val="1A7560"/>
            </a:solidFill>
            <a:prstDash val="solid"/>
          </a:ln>
        </p:spPr>
      </p:sp>
      <p:sp>
        <p:nvSpPr>
          <p:cNvPr id="5" name="Text 3"/>
          <p:cNvSpPr/>
          <p:nvPr/>
        </p:nvSpPr>
        <p:spPr>
          <a:xfrm>
            <a:off x="990600" y="1823721"/>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Spider diagrams</a:t>
            </a:r>
            <a:endParaRPr lang="en-US" sz="1600" dirty="0"/>
          </a:p>
        </p:txBody>
      </p:sp>
      <p:sp>
        <p:nvSpPr>
          <p:cNvPr id="6" name="Text 4"/>
          <p:cNvSpPr/>
          <p:nvPr/>
        </p:nvSpPr>
        <p:spPr>
          <a:xfrm>
            <a:off x="990600" y="2118364"/>
            <a:ext cx="389813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35 published normalising sets: chondrite, primitive mantle, MORB, OIB and crust (e.g. McDonough and Sun 1995).</a:t>
            </a:r>
            <a:endParaRPr lang="en-US" sz="1300" dirty="0"/>
          </a:p>
        </p:txBody>
      </p:sp>
      <p:sp>
        <p:nvSpPr>
          <p:cNvPr id="7" name="Shape 5"/>
          <p:cNvSpPr/>
          <p:nvPr/>
        </p:nvSpPr>
        <p:spPr>
          <a:xfrm>
            <a:off x="825500" y="3039746"/>
            <a:ext cx="0" cy="773430"/>
          </a:xfrm>
          <a:prstGeom prst="line">
            <a:avLst/>
          </a:prstGeom>
          <a:noFill/>
          <a:ln w="25400">
            <a:solidFill>
              <a:srgbClr val="1A7560"/>
            </a:solidFill>
            <a:prstDash val="solid"/>
          </a:ln>
        </p:spPr>
      </p:sp>
      <p:sp>
        <p:nvSpPr>
          <p:cNvPr id="8" name="Text 6"/>
          <p:cNvSpPr/>
          <p:nvPr/>
        </p:nvSpPr>
        <p:spPr>
          <a:xfrm>
            <a:off x="990600" y="3039746"/>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CIPW norm</a:t>
            </a:r>
            <a:endParaRPr lang="en-US" sz="1600" dirty="0"/>
          </a:p>
        </p:txBody>
      </p:sp>
      <p:sp>
        <p:nvSpPr>
          <p:cNvPr id="9" name="Text 7"/>
          <p:cNvSpPr/>
          <p:nvPr/>
        </p:nvSpPr>
        <p:spPr>
          <a:xfrm>
            <a:off x="990600" y="3334389"/>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Normative minerals after Hutchison (1974, 1975), with a user-set Fe³⁺/Fe(total).</a:t>
            </a:r>
            <a:endParaRPr lang="en-US" sz="1300" dirty="0"/>
          </a:p>
        </p:txBody>
      </p:sp>
      <p:sp>
        <p:nvSpPr>
          <p:cNvPr id="10" name="Shape 8"/>
          <p:cNvSpPr/>
          <p:nvPr/>
        </p:nvSpPr>
        <p:spPr>
          <a:xfrm>
            <a:off x="825500" y="4016375"/>
            <a:ext cx="0" cy="773430"/>
          </a:xfrm>
          <a:prstGeom prst="line">
            <a:avLst/>
          </a:prstGeom>
          <a:noFill/>
          <a:ln w="25400">
            <a:solidFill>
              <a:srgbClr val="1A7560"/>
            </a:solidFill>
            <a:prstDash val="solid"/>
          </a:ln>
        </p:spPr>
      </p:sp>
      <p:sp>
        <p:nvSpPr>
          <p:cNvPr id="11" name="Text 9"/>
          <p:cNvSpPr/>
          <p:nvPr/>
        </p:nvSpPr>
        <p:spPr>
          <a:xfrm>
            <a:off x="990600" y="4016375"/>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XY plots and statistics</a:t>
            </a:r>
            <a:endParaRPr lang="en-US" sz="1600" dirty="0"/>
          </a:p>
        </p:txBody>
      </p:sp>
      <p:sp>
        <p:nvSpPr>
          <p:cNvPr id="12" name="Text 10"/>
          <p:cNvSpPr/>
          <p:nvPr/>
        </p:nvSpPr>
        <p:spPr>
          <a:xfrm>
            <a:off x="990600" y="4311017"/>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Any column against any other, linear or log; summary statistics for each group.</a:t>
            </a:r>
            <a:endParaRPr lang="en-US" sz="1300" dirty="0"/>
          </a:p>
        </p:txBody>
      </p:sp>
      <p:sp>
        <p:nvSpPr>
          <p:cNvPr id="13" name="Shape 11"/>
          <p:cNvSpPr/>
          <p:nvPr/>
        </p:nvSpPr>
        <p:spPr>
          <a:xfrm>
            <a:off x="5130800" y="1823721"/>
            <a:ext cx="6248400" cy="4000500"/>
          </a:xfrm>
          <a:prstGeom prst="roundRect">
            <a:avLst>
              <a:gd name="adj" fmla="val 3175"/>
            </a:avLst>
          </a:prstGeom>
          <a:solidFill>
            <a:srgbClr val="E9E5DC"/>
          </a:solidFill>
          <a:ln/>
        </p:spPr>
      </p:sp>
      <p:pic>
        <p:nvPicPr>
          <p:cNvPr id="14" name="Image 0" descr="Spider diagram page of GeoChem App with chondrite-normalised REE patterns">    </p:cNvPr>
          <p:cNvPicPr>
            <a:picLocks noChangeAspect="1"/>
          </p:cNvPicPr>
          <p:nvPr/>
        </p:nvPicPr>
        <p:blipFill>
          <a:blip r:embed="rId1"/>
          <a:srcRect l="0" r="0" t="0" b="0"/>
          <a:stretch/>
        </p:blipFill>
        <p:spPr>
          <a:xfrm>
            <a:off x="5257800" y="1950721"/>
            <a:ext cx="5994400" cy="3746500"/>
          </a:xfrm>
          <a:prstGeom prst="roundRect">
            <a:avLst>
              <a:gd name="adj" fmla="val 1356"/>
            </a:avLst>
          </a:prstGeom>
        </p:spPr>
      </p:pic>
      <p:sp>
        <p:nvSpPr>
          <p:cNvPr id="15" name="Text 12"/>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6" name="Text 13"/>
          <p:cNvSpPr/>
          <p:nvPr/>
        </p:nvSpPr>
        <p:spPr>
          <a:xfrm>
            <a:off x="11170127" y="6236971"/>
            <a:ext cx="20907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FEATURES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Publication-ready figures</a:t>
            </a:r>
            <a:endParaRPr lang="en-US" sz="3200" dirty="0"/>
          </a:p>
        </p:txBody>
      </p:sp>
      <p:sp>
        <p:nvSpPr>
          <p:cNvPr id="4" name="Shape 2"/>
          <p:cNvSpPr/>
          <p:nvPr/>
        </p:nvSpPr>
        <p:spPr>
          <a:xfrm>
            <a:off x="812800" y="1823721"/>
            <a:ext cx="5181600" cy="3314700"/>
          </a:xfrm>
          <a:prstGeom prst="roundRect">
            <a:avLst>
              <a:gd name="adj" fmla="val 3831"/>
            </a:avLst>
          </a:prstGeom>
          <a:solidFill>
            <a:srgbClr val="E9E5DC"/>
          </a:solidFill>
          <a:ln/>
        </p:spPr>
      </p:sp>
      <p:pic>
        <p:nvPicPr>
          <p:cNvPr id="5" name="Image 0" descr="Symbols and colours page with group styles and palette choice">    </p:cNvPr>
          <p:cNvPicPr>
            <a:picLocks noChangeAspect="1"/>
          </p:cNvPicPr>
          <p:nvPr/>
        </p:nvPicPr>
        <p:blipFill>
          <a:blip r:embed="rId1"/>
          <a:srcRect l="0" r="0" t="0" b="0"/>
          <a:stretch/>
        </p:blipFill>
        <p:spPr>
          <a:xfrm>
            <a:off x="914400" y="1925321"/>
            <a:ext cx="4978400" cy="3111500"/>
          </a:xfrm>
          <a:prstGeom prst="roundRect">
            <a:avLst>
              <a:gd name="adj" fmla="val 1633"/>
            </a:avLst>
          </a:prstGeom>
        </p:spPr>
      </p:pic>
      <p:sp>
        <p:nvSpPr>
          <p:cNvPr id="6" name="Text 3"/>
          <p:cNvSpPr/>
          <p:nvPr/>
        </p:nvSpPr>
        <p:spPr>
          <a:xfrm>
            <a:off x="812800" y="5240021"/>
            <a:ext cx="5337048"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A5E"/>
                </a:solidFill>
                <a:latin typeface="Arial" pitchFamily="34" charset="0"/>
                <a:ea typeface="Arial" pitchFamily="34" charset="-122"/>
                <a:cs typeface="Arial" pitchFamily="34" charset="-120"/>
              </a:rPr>
              <a:t>Symbols and colours</a:t>
            </a:r>
            <a:r>
              <a:rPr lang="en-US" sz="1300" dirty="0">
                <a:solidFill>
                  <a:srgbClr val="4A5A5E"/>
                </a:solidFill>
                <a:latin typeface="Arial" pitchFamily="34" charset="0"/>
                <a:ea typeface="Arial" pitchFamily="34" charset="-122"/>
                <a:cs typeface="Arial" pitchFamily="34" charset="-120"/>
              </a:rPr>
              <a:t> per group, with default, colour-blind safe (Okabe-Ito) or greyscale palettes.</a:t>
            </a:r>
            <a:endParaRPr lang="en-US" sz="1300" dirty="0"/>
          </a:p>
        </p:txBody>
      </p:sp>
      <p:sp>
        <p:nvSpPr>
          <p:cNvPr id="7" name="Shape 4"/>
          <p:cNvSpPr/>
          <p:nvPr/>
        </p:nvSpPr>
        <p:spPr>
          <a:xfrm>
            <a:off x="6197600" y="1823721"/>
            <a:ext cx="5181600" cy="3314700"/>
          </a:xfrm>
          <a:prstGeom prst="roundRect">
            <a:avLst>
              <a:gd name="adj" fmla="val 3831"/>
            </a:avLst>
          </a:prstGeom>
          <a:solidFill>
            <a:srgbClr val="E9E5DC"/>
          </a:solidFill>
          <a:ln/>
        </p:spPr>
      </p:sp>
      <p:pic>
        <p:nvPicPr>
          <p:cNvPr id="8" name="Image 1" descr="Plot appearance page with font, label and line-width settings">    </p:cNvPr>
          <p:cNvPicPr>
            <a:picLocks noChangeAspect="1"/>
          </p:cNvPicPr>
          <p:nvPr/>
        </p:nvPicPr>
        <p:blipFill>
          <a:blip r:embed="rId2"/>
          <a:srcRect l="0" r="0" t="0" b="0"/>
          <a:stretch/>
        </p:blipFill>
        <p:spPr>
          <a:xfrm>
            <a:off x="6299200" y="1925321"/>
            <a:ext cx="4978400" cy="3111500"/>
          </a:xfrm>
          <a:prstGeom prst="roundRect">
            <a:avLst>
              <a:gd name="adj" fmla="val 1633"/>
            </a:avLst>
          </a:prstGeom>
        </p:spPr>
      </p:pic>
      <p:sp>
        <p:nvSpPr>
          <p:cNvPr id="9" name="Text 5"/>
          <p:cNvSpPr/>
          <p:nvPr/>
        </p:nvSpPr>
        <p:spPr>
          <a:xfrm>
            <a:off x="6197600" y="5240021"/>
            <a:ext cx="5337048"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A5E"/>
                </a:solidFill>
                <a:latin typeface="Arial" pitchFamily="34" charset="0"/>
                <a:ea typeface="Arial" pitchFamily="34" charset="-122"/>
                <a:cs typeface="Arial" pitchFamily="34" charset="-120"/>
              </a:rPr>
              <a:t>Plot appearance:</a:t>
            </a:r>
            <a:r>
              <a:rPr lang="en-US" sz="1300" dirty="0">
                <a:solidFill>
                  <a:srgbClr val="4A5A5E"/>
                </a:solidFill>
                <a:latin typeface="Arial" pitchFamily="34" charset="0"/>
                <a:ea typeface="Arial" pitchFamily="34" charset="-122"/>
                <a:cs typeface="Arial" pitchFamily="34" charset="-120"/>
              </a:rPr>
              <a:t> fonts, label orientation and line widths. Export PNG (up to 600 dpi), SVG or PDF.</a:t>
            </a:r>
            <a:endParaRPr lang="en-US" sz="1300" dirty="0"/>
          </a:p>
        </p:txBody>
      </p:sp>
      <p:sp>
        <p:nvSpPr>
          <p:cNvPr id="10" name="Text 6"/>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11" name="Text 7"/>
          <p:cNvSpPr/>
          <p:nvPr/>
        </p:nvSpPr>
        <p:spPr>
          <a:xfrm>
            <a:off x="11158855" y="6236971"/>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FEATURES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Optional module: XRF quality control</a:t>
            </a:r>
            <a:endParaRPr lang="en-US" sz="3200" dirty="0"/>
          </a:p>
        </p:txBody>
      </p:sp>
      <p:sp>
        <p:nvSpPr>
          <p:cNvPr id="4" name="Shape 2"/>
          <p:cNvSpPr/>
          <p:nvPr/>
        </p:nvSpPr>
        <p:spPr>
          <a:xfrm>
            <a:off x="825500" y="1823721"/>
            <a:ext cx="0" cy="1012825"/>
          </a:xfrm>
          <a:prstGeom prst="line">
            <a:avLst/>
          </a:prstGeom>
          <a:noFill/>
          <a:ln w="25400">
            <a:solidFill>
              <a:srgbClr val="1A7560"/>
            </a:solidFill>
            <a:prstDash val="solid"/>
          </a:ln>
        </p:spPr>
      </p:sp>
      <p:sp>
        <p:nvSpPr>
          <p:cNvPr id="5" name="Text 3"/>
          <p:cNvSpPr/>
          <p:nvPr/>
        </p:nvSpPr>
        <p:spPr>
          <a:xfrm>
            <a:off x="990600" y="1823721"/>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Mikuni et al. (2025)</a:t>
            </a:r>
            <a:endParaRPr lang="en-US" sz="1600" dirty="0"/>
          </a:p>
        </p:txBody>
      </p:sp>
      <p:sp>
        <p:nvSpPr>
          <p:cNvPr id="6" name="Text 4"/>
          <p:cNvSpPr/>
          <p:nvPr/>
        </p:nvSpPr>
        <p:spPr>
          <a:xfrm>
            <a:off x="990600" y="2118364"/>
            <a:ext cx="389813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Reference-material QC, calibration from X-ray intensities with Ca–Mg matrix correction, and an ultramafic iron check.</a:t>
            </a:r>
            <a:endParaRPr lang="en-US" sz="1300" dirty="0"/>
          </a:p>
        </p:txBody>
      </p:sp>
      <p:sp>
        <p:nvSpPr>
          <p:cNvPr id="7" name="Shape 5"/>
          <p:cNvSpPr/>
          <p:nvPr/>
        </p:nvSpPr>
        <p:spPr>
          <a:xfrm>
            <a:off x="825500" y="2988946"/>
            <a:ext cx="0" cy="773430"/>
          </a:xfrm>
          <a:prstGeom prst="line">
            <a:avLst/>
          </a:prstGeom>
          <a:noFill/>
          <a:ln w="25400">
            <a:solidFill>
              <a:srgbClr val="1A7560"/>
            </a:solidFill>
            <a:prstDash val="solid"/>
          </a:ln>
        </p:spPr>
      </p:sp>
      <p:sp>
        <p:nvSpPr>
          <p:cNvPr id="8" name="Text 6"/>
          <p:cNvSpPr/>
          <p:nvPr/>
        </p:nvSpPr>
        <p:spPr>
          <a:xfrm>
            <a:off x="990600" y="2988946"/>
            <a:ext cx="38981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62B"/>
                </a:solidFill>
                <a:latin typeface="Georgia" pitchFamily="18" charset="0"/>
                <a:ea typeface="Georgia" pitchFamily="18" charset="-122"/>
                <a:cs typeface="Georgia" pitchFamily="18" charset="-120"/>
              </a:rPr>
              <a:t>Why it matters</a:t>
            </a:r>
            <a:endParaRPr lang="en-US" sz="1600" dirty="0"/>
          </a:p>
        </p:txBody>
      </p:sp>
      <p:sp>
        <p:nvSpPr>
          <p:cNvPr id="9" name="Text 7"/>
          <p:cNvSpPr/>
          <p:nvPr/>
        </p:nvSpPr>
        <p:spPr>
          <a:xfrm>
            <a:off x="990600" y="3283589"/>
            <a:ext cx="389813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Without matrix correction, T-Fe2O3 in peridotites can be 0.6–0.7 wt% too high, which shifts Mg#.</a:t>
            </a:r>
            <a:endParaRPr lang="en-US" sz="1300" dirty="0"/>
          </a:p>
        </p:txBody>
      </p:sp>
      <p:sp>
        <p:nvSpPr>
          <p:cNvPr id="10" name="Shape 8"/>
          <p:cNvSpPr/>
          <p:nvPr/>
        </p:nvSpPr>
        <p:spPr>
          <a:xfrm>
            <a:off x="812800" y="3914775"/>
            <a:ext cx="3962400" cy="1615440"/>
          </a:xfrm>
          <a:prstGeom prst="roundRect">
            <a:avLst>
              <a:gd name="adj" fmla="val 6289"/>
            </a:avLst>
          </a:prstGeom>
          <a:solidFill>
            <a:srgbClr val="17262B"/>
          </a:solidFill>
          <a:ln/>
        </p:spPr>
      </p:sp>
      <p:sp>
        <p:nvSpPr>
          <p:cNvPr id="11" name="Text 9"/>
          <p:cNvSpPr/>
          <p:nvPr/>
        </p:nvSpPr>
        <p:spPr>
          <a:xfrm>
            <a:off x="1016000" y="4092575"/>
            <a:ext cx="375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7C4"/>
                </a:solidFill>
                <a:latin typeface="Arial" pitchFamily="34" charset="0"/>
                <a:ea typeface="Arial" pitchFamily="34" charset="-122"/>
                <a:cs typeface="Arial" pitchFamily="34" charset="-120"/>
              </a:rPr>
              <a:t>Reproduces the paper (T-Fe2O3, Ca–Mg corrected)</a:t>
            </a:r>
            <a:endParaRPr lang="en-US" sz="1200" dirty="0"/>
          </a:p>
        </p:txBody>
      </p:sp>
      <p:sp>
        <p:nvSpPr>
          <p:cNvPr id="12" name="Text 10"/>
          <p:cNvSpPr/>
          <p:nvPr/>
        </p:nvSpPr>
        <p:spPr>
          <a:xfrm>
            <a:off x="1016000" y="4407539"/>
            <a:ext cx="139998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C9A8"/>
                </a:solidFill>
                <a:latin typeface="Georgia" pitchFamily="18" charset="0"/>
                <a:ea typeface="Georgia" pitchFamily="18" charset="-122"/>
                <a:cs typeface="Georgia" pitchFamily="18" charset="-120"/>
              </a:rPr>
              <a:t>0.99967</a:t>
            </a:r>
            <a:endParaRPr lang="en-US" sz="2200" dirty="0"/>
          </a:p>
        </p:txBody>
      </p:sp>
      <p:sp>
        <p:nvSpPr>
          <p:cNvPr id="13" name="Text 11"/>
          <p:cNvSpPr/>
          <p:nvPr/>
        </p:nvSpPr>
        <p:spPr>
          <a:xfrm>
            <a:off x="1016000" y="4824096"/>
            <a:ext cx="1217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5E2"/>
                </a:solidFill>
                <a:latin typeface="Arial" pitchFamily="34" charset="0"/>
                <a:ea typeface="Arial" pitchFamily="34" charset="-122"/>
                <a:cs typeface="Arial" pitchFamily="34" charset="-120"/>
              </a:rPr>
              <a:t>R²</a:t>
            </a:r>
            <a:endParaRPr lang="en-US" sz="1200" dirty="0"/>
          </a:p>
        </p:txBody>
      </p:sp>
      <p:sp>
        <p:nvSpPr>
          <p:cNvPr id="14" name="Text 12"/>
          <p:cNvSpPr/>
          <p:nvPr/>
        </p:nvSpPr>
        <p:spPr>
          <a:xfrm>
            <a:off x="2487454" y="4407539"/>
            <a:ext cx="175450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C9A8"/>
                </a:solidFill>
                <a:latin typeface="Georgia" pitchFamily="18" charset="0"/>
                <a:ea typeface="Georgia" pitchFamily="18" charset="-122"/>
                <a:cs typeface="Georgia" pitchFamily="18" charset="-120"/>
              </a:rPr>
              <a:t>0.077 wt%</a:t>
            </a:r>
            <a:endParaRPr lang="en-US" sz="2200" dirty="0"/>
          </a:p>
        </p:txBody>
      </p:sp>
      <p:sp>
        <p:nvSpPr>
          <p:cNvPr id="15" name="Text 13"/>
          <p:cNvSpPr/>
          <p:nvPr/>
        </p:nvSpPr>
        <p:spPr>
          <a:xfrm>
            <a:off x="2487454" y="4824096"/>
            <a:ext cx="15128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5E2"/>
                </a:solidFill>
                <a:latin typeface="Arial" pitchFamily="34" charset="0"/>
                <a:ea typeface="Arial" pitchFamily="34" charset="-122"/>
                <a:cs typeface="Arial" pitchFamily="34" charset="-120"/>
              </a:rPr>
              <a:t>accuracy</a:t>
            </a:r>
            <a:endParaRPr lang="en-US" sz="1200" dirty="0"/>
          </a:p>
        </p:txBody>
      </p:sp>
      <p:sp>
        <p:nvSpPr>
          <p:cNvPr id="16" name="Text 14"/>
          <p:cNvSpPr/>
          <p:nvPr/>
        </p:nvSpPr>
        <p:spPr>
          <a:xfrm>
            <a:off x="1016000" y="5139054"/>
            <a:ext cx="3662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5E2"/>
                </a:solidFill>
                <a:latin typeface="Arial" pitchFamily="34" charset="0"/>
                <a:ea typeface="Arial" pitchFamily="34" charset="-122"/>
                <a:cs typeface="Arial" pitchFamily="34" charset="-120"/>
              </a:rPr>
              <a:t>Sample GP13: 8.92 → 8.40 wt%, as in the paper</a:t>
            </a:r>
            <a:endParaRPr lang="en-US" sz="1200" dirty="0"/>
          </a:p>
        </p:txBody>
      </p:sp>
      <p:sp>
        <p:nvSpPr>
          <p:cNvPr id="17" name="Shape 15"/>
          <p:cNvSpPr/>
          <p:nvPr/>
        </p:nvSpPr>
        <p:spPr>
          <a:xfrm>
            <a:off x="5130800" y="1823721"/>
            <a:ext cx="6248400" cy="4000500"/>
          </a:xfrm>
          <a:prstGeom prst="roundRect">
            <a:avLst>
              <a:gd name="adj" fmla="val 3175"/>
            </a:avLst>
          </a:prstGeom>
          <a:solidFill>
            <a:srgbClr val="E9E5DC"/>
          </a:solidFill>
          <a:ln/>
        </p:spPr>
      </p:sp>
      <p:pic>
        <p:nvPicPr>
          <p:cNvPr id="18" name="Image 0" descr="XRF calibration page with calibration lines for SiO2, TiO2, Al2O3 and T-Fe2O3">    </p:cNvPr>
          <p:cNvPicPr>
            <a:picLocks noChangeAspect="1"/>
          </p:cNvPicPr>
          <p:nvPr/>
        </p:nvPicPr>
        <p:blipFill>
          <a:blip r:embed="rId1"/>
          <a:srcRect l="0" r="0" t="0" b="0"/>
          <a:stretch/>
        </p:blipFill>
        <p:spPr>
          <a:xfrm>
            <a:off x="5257800" y="1950721"/>
            <a:ext cx="5994400" cy="3746500"/>
          </a:xfrm>
          <a:prstGeom prst="roundRect">
            <a:avLst>
              <a:gd name="adj" fmla="val 1356"/>
            </a:avLst>
          </a:prstGeom>
        </p:spPr>
      </p:pic>
      <p:sp>
        <p:nvSpPr>
          <p:cNvPr id="19" name="Text 16"/>
          <p:cNvSpPr/>
          <p:nvPr/>
        </p:nvSpPr>
        <p:spPr>
          <a:xfrm>
            <a:off x="812800" y="6236971"/>
            <a:ext cx="59062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Mikuni K., Ishikawa A., Sato R. (2025) Geochemical Journal 59, 299–314</a:t>
            </a:r>
            <a:endParaRPr lang="en-US" sz="1200" dirty="0"/>
          </a:p>
        </p:txBody>
      </p:sp>
      <p:sp>
        <p:nvSpPr>
          <p:cNvPr id="20" name="Text 17"/>
          <p:cNvSpPr/>
          <p:nvPr/>
        </p:nvSpPr>
        <p:spPr>
          <a:xfrm>
            <a:off x="11158855" y="6236971"/>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SHARING</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Three ways to use it</a:t>
            </a:r>
            <a:endParaRPr lang="en-US" sz="3200" dirty="0"/>
          </a:p>
        </p:txBody>
      </p:sp>
      <p:sp>
        <p:nvSpPr>
          <p:cNvPr id="4" name="Shape 2"/>
          <p:cNvSpPr/>
          <p:nvPr/>
        </p:nvSpPr>
        <p:spPr>
          <a:xfrm>
            <a:off x="819150" y="1830071"/>
            <a:ext cx="3380740" cy="2429510"/>
          </a:xfrm>
          <a:prstGeom prst="roundRect">
            <a:avLst>
              <a:gd name="adj" fmla="val 4966"/>
            </a:avLst>
          </a:prstGeom>
          <a:solidFill>
            <a:srgbClr val="FFFDF9"/>
          </a:solidFill>
          <a:ln w="12700">
            <a:solidFill>
              <a:srgbClr val="1A7560"/>
            </a:solidFill>
            <a:prstDash val="solid"/>
          </a:ln>
        </p:spPr>
      </p:sp>
      <p:pic>
        <p:nvPicPr>
          <p:cNvPr id="5" name="Image 0" descr="Globe">    </p:cNvPr>
          <p:cNvPicPr>
            <a:picLocks noChangeAspect="1"/>
          </p:cNvPicPr>
          <p:nvPr/>
        </p:nvPicPr>
        <p:blipFill>
          <a:blip r:embed="rId1"/>
          <a:srcRect l="0" r="0" t="0" b="0"/>
          <a:stretch/>
        </p:blipFill>
        <p:spPr>
          <a:xfrm>
            <a:off x="1076960" y="2087879"/>
            <a:ext cx="279400" cy="279400"/>
          </a:xfrm>
          <a:prstGeom prst="rect">
            <a:avLst/>
          </a:prstGeom>
        </p:spPr>
      </p:pic>
      <p:sp>
        <p:nvSpPr>
          <p:cNvPr id="6" name="Text 3"/>
          <p:cNvSpPr/>
          <p:nvPr/>
        </p:nvSpPr>
        <p:spPr>
          <a:xfrm>
            <a:off x="1457960" y="2090421"/>
            <a:ext cx="95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Online</a:t>
            </a:r>
            <a:endParaRPr lang="en-US" sz="1800" dirty="0"/>
          </a:p>
        </p:txBody>
      </p:sp>
      <p:sp>
        <p:nvSpPr>
          <p:cNvPr id="7" name="Text 4"/>
          <p:cNvSpPr/>
          <p:nvPr/>
        </p:nvSpPr>
        <p:spPr>
          <a:xfrm>
            <a:off x="1076960" y="2468879"/>
            <a:ext cx="295107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Any browser, also on tablets and phones. Nothing to install.</a:t>
            </a:r>
            <a:endParaRPr lang="en-US" sz="1300" dirty="0"/>
          </a:p>
        </p:txBody>
      </p:sp>
      <p:pic>
        <p:nvPicPr>
          <p:cNvPr id="8" name="Image 1" descr="QR code to geo-app-hidayah.streamlit.app">    </p:cNvPr>
          <p:cNvPicPr>
            <a:picLocks noChangeAspect="1"/>
          </p:cNvPicPr>
          <p:nvPr/>
        </p:nvPicPr>
        <p:blipFill>
          <a:blip r:embed="rId2"/>
          <a:srcRect l="0" r="0" t="0" b="0"/>
          <a:stretch/>
        </p:blipFill>
        <p:spPr>
          <a:xfrm>
            <a:off x="1076960" y="3049271"/>
            <a:ext cx="952500" cy="952500"/>
          </a:xfrm>
          <a:prstGeom prst="rect">
            <a:avLst/>
          </a:prstGeom>
        </p:spPr>
      </p:pic>
      <p:sp>
        <p:nvSpPr>
          <p:cNvPr id="9" name="Text 5"/>
          <p:cNvSpPr/>
          <p:nvPr/>
        </p:nvSpPr>
        <p:spPr>
          <a:xfrm>
            <a:off x="2156460" y="3312164"/>
            <a:ext cx="127007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7560"/>
                </a:solidFill>
                <a:latin typeface="Arial" pitchFamily="34" charset="0"/>
                <a:ea typeface="Arial" pitchFamily="34" charset="-122"/>
                <a:cs typeface="Arial" pitchFamily="34" charset="-120"/>
              </a:rPr>
              <a:t>geo-app-hidayah</a:t>
            </a:r>
            <a:endParaRPr lang="en-US" sz="1200" dirty="0"/>
          </a:p>
          <a:p>
            <a:pPr algn="l" indent="0" marL="0">
              <a:lnSpc>
                <a:spcPts val="1680"/>
              </a:lnSpc>
              <a:buNone/>
            </a:pPr>
            <a:r>
              <a:rPr lang="en-US" sz="1200" b="1" dirty="0">
                <a:solidFill>
                  <a:srgbClr val="1A7560"/>
                </a:solidFill>
                <a:latin typeface="Arial" pitchFamily="34" charset="0"/>
                <a:ea typeface="Arial" pitchFamily="34" charset="-122"/>
                <a:cs typeface="Arial" pitchFamily="34" charset="-120"/>
              </a:rPr>
              <a:t>.streamlit.app</a:t>
            </a:r>
            <a:endParaRPr lang="en-US" sz="1200" dirty="0"/>
          </a:p>
        </p:txBody>
      </p:sp>
      <p:sp>
        <p:nvSpPr>
          <p:cNvPr id="10" name="Shape 6"/>
          <p:cNvSpPr/>
          <p:nvPr/>
        </p:nvSpPr>
        <p:spPr>
          <a:xfrm>
            <a:off x="4412615" y="1826896"/>
            <a:ext cx="3376930" cy="2435860"/>
          </a:xfrm>
          <a:prstGeom prst="roundRect">
            <a:avLst>
              <a:gd name="adj" fmla="val 5083"/>
            </a:avLst>
          </a:prstGeom>
          <a:solidFill>
            <a:srgbClr val="FFFDF9"/>
          </a:solidFill>
          <a:ln w="6350">
            <a:solidFill>
              <a:srgbClr val="E2DED4"/>
            </a:solidFill>
            <a:prstDash val="solid"/>
          </a:ln>
        </p:spPr>
      </p:sp>
      <p:pic>
        <p:nvPicPr>
          <p:cNvPr id="11" name="Image 2" descr="Lock">    </p:cNvPr>
          <p:cNvPicPr>
            <a:picLocks noChangeAspect="1"/>
          </p:cNvPicPr>
          <p:nvPr/>
        </p:nvPicPr>
        <p:blipFill>
          <a:blip r:embed="rId3"/>
          <a:srcRect l="0" r="0" t="0" b="0"/>
          <a:stretch/>
        </p:blipFill>
        <p:spPr>
          <a:xfrm>
            <a:off x="4668520" y="2082800"/>
            <a:ext cx="279400" cy="279400"/>
          </a:xfrm>
          <a:prstGeom prst="rect">
            <a:avLst/>
          </a:prstGeom>
        </p:spPr>
      </p:pic>
      <p:sp>
        <p:nvSpPr>
          <p:cNvPr id="12" name="Text 7"/>
          <p:cNvSpPr/>
          <p:nvPr/>
        </p:nvSpPr>
        <p:spPr>
          <a:xfrm>
            <a:off x="5049520" y="2085342"/>
            <a:ext cx="17836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Portable ZIP</a:t>
            </a:r>
            <a:endParaRPr lang="en-US" sz="1800" dirty="0"/>
          </a:p>
        </p:txBody>
      </p:sp>
      <p:sp>
        <p:nvSpPr>
          <p:cNvPr id="13" name="Text 8"/>
          <p:cNvSpPr/>
          <p:nvPr/>
        </p:nvSpPr>
        <p:spPr>
          <a:xfrm>
            <a:off x="4668520" y="2463800"/>
            <a:ext cx="2951074"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Extract and double-click on any Windows PC. No installation and no internet; data never leave the computer.</a:t>
            </a:r>
            <a:endParaRPr lang="en-US" sz="1300" dirty="0"/>
          </a:p>
        </p:txBody>
      </p:sp>
      <p:sp>
        <p:nvSpPr>
          <p:cNvPr id="14" name="Shape 9"/>
          <p:cNvSpPr/>
          <p:nvPr/>
        </p:nvSpPr>
        <p:spPr>
          <a:xfrm>
            <a:off x="7999095" y="1826896"/>
            <a:ext cx="3376930" cy="2435860"/>
          </a:xfrm>
          <a:prstGeom prst="roundRect">
            <a:avLst>
              <a:gd name="adj" fmla="val 5083"/>
            </a:avLst>
          </a:prstGeom>
          <a:solidFill>
            <a:srgbClr val="FFFDF9"/>
          </a:solidFill>
          <a:ln w="6350">
            <a:solidFill>
              <a:srgbClr val="E2DED4"/>
            </a:solidFill>
            <a:prstDash val="solid"/>
          </a:ln>
        </p:spPr>
      </p:sp>
      <p:pic>
        <p:nvPicPr>
          <p:cNvPr id="15" name="Image 3" descr="Code">    </p:cNvPr>
          <p:cNvPicPr>
            <a:picLocks noChangeAspect="1"/>
          </p:cNvPicPr>
          <p:nvPr/>
        </p:nvPicPr>
        <p:blipFill>
          <a:blip r:embed="rId4"/>
          <a:srcRect l="0" r="0" t="0" b="0"/>
          <a:stretch/>
        </p:blipFill>
        <p:spPr>
          <a:xfrm>
            <a:off x="8255000" y="2082800"/>
            <a:ext cx="279400" cy="279400"/>
          </a:xfrm>
          <a:prstGeom prst="rect">
            <a:avLst/>
          </a:prstGeom>
        </p:spPr>
      </p:pic>
      <p:sp>
        <p:nvSpPr>
          <p:cNvPr id="16" name="Text 10"/>
          <p:cNvSpPr/>
          <p:nvPr/>
        </p:nvSpPr>
        <p:spPr>
          <a:xfrm>
            <a:off x="8636000" y="2085342"/>
            <a:ext cx="17118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62B"/>
                </a:solidFill>
                <a:latin typeface="Georgia" pitchFamily="18" charset="0"/>
                <a:ea typeface="Georgia" pitchFamily="18" charset="-122"/>
                <a:cs typeface="Georgia" pitchFamily="18" charset="-120"/>
              </a:rPr>
              <a:t>Source code</a:t>
            </a:r>
            <a:endParaRPr lang="en-US" sz="1800" dirty="0"/>
          </a:p>
        </p:txBody>
      </p:sp>
      <p:sp>
        <p:nvSpPr>
          <p:cNvPr id="17" name="Text 11"/>
          <p:cNvSpPr/>
          <p:nvPr/>
        </p:nvSpPr>
        <p:spPr>
          <a:xfrm>
            <a:off x="8255000" y="2463800"/>
            <a:ext cx="2951074"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E"/>
                </a:solidFill>
                <a:latin typeface="Arial" pitchFamily="34" charset="0"/>
                <a:ea typeface="Arial" pitchFamily="34" charset="-122"/>
                <a:cs typeface="Arial" pitchFamily="34" charset="-120"/>
              </a:rPr>
              <a:t>For macOS, Linux and developers: clone from GitHub, install five libraries, run with Streamlit.</a:t>
            </a:r>
            <a:endParaRPr lang="en-US" sz="1300" dirty="0"/>
          </a:p>
        </p:txBody>
      </p:sp>
      <p:sp>
        <p:nvSpPr>
          <p:cNvPr id="18" name="Text 12"/>
          <p:cNvSpPr/>
          <p:nvPr/>
        </p:nvSpPr>
        <p:spPr>
          <a:xfrm>
            <a:off x="812800" y="451992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62B"/>
                </a:solidFill>
                <a:latin typeface="Arial" pitchFamily="34" charset="0"/>
                <a:ea typeface="Arial" pitchFamily="34" charset="-122"/>
                <a:cs typeface="Arial" pitchFamily="34" charset="-120"/>
              </a:rPr>
              <a:t>Interface in </a:t>
            </a:r>
            <a:r>
              <a:rPr lang="en-US" sz="1400" b="1" dirty="0">
                <a:solidFill>
                  <a:srgbClr val="17262B"/>
                </a:solidFill>
                <a:latin typeface="Arial" pitchFamily="34" charset="0"/>
                <a:ea typeface="Arial" pitchFamily="34" charset="-122"/>
                <a:cs typeface="Arial" pitchFamily="34" charset="-120"/>
              </a:rPr>
              <a:t>English, Indonesian and Japanese</a:t>
            </a:r>
            <a:r>
              <a:rPr lang="en-US" sz="1400" dirty="0">
                <a:solidFill>
                  <a:srgbClr val="17262B"/>
                </a:solidFill>
                <a:latin typeface="Arial" pitchFamily="34" charset="0"/>
                <a:ea typeface="Arial" pitchFamily="34" charset="-122"/>
                <a:cs typeface="Arial" pitchFamily="34" charset="-120"/>
              </a:rPr>
              <a:t> · light, dark or system theme</a:t>
            </a:r>
            <a:endParaRPr lang="en-US" sz="1400" dirty="0"/>
          </a:p>
        </p:txBody>
      </p:sp>
      <p:sp>
        <p:nvSpPr>
          <p:cNvPr id="19" name="Text 13"/>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20" name="Text 14"/>
          <p:cNvSpPr/>
          <p:nvPr/>
        </p:nvSpPr>
        <p:spPr>
          <a:xfrm>
            <a:off x="11158855" y="6236971"/>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A7560"/>
                </a:solidFill>
                <a:latin typeface="Arial" pitchFamily="34" charset="0"/>
                <a:ea typeface="Arial" pitchFamily="34" charset="-122"/>
                <a:cs typeface="Arial" pitchFamily="34" charset="-120"/>
              </a:rPr>
              <a:t>NEXT STEPS</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62B"/>
                </a:solidFill>
                <a:latin typeface="Georgia" pitchFamily="18" charset="0"/>
                <a:ea typeface="Georgia" pitchFamily="18" charset="-122"/>
                <a:cs typeface="Georgia" pitchFamily="18" charset="-120"/>
              </a:rPr>
              <a:t>Link to my research and roadmap</a:t>
            </a:r>
            <a:endParaRPr lang="en-US" sz="3200" dirty="0"/>
          </a:p>
        </p:txBody>
      </p:sp>
      <p:sp>
        <p:nvSpPr>
          <p:cNvPr id="4" name="Shape 2"/>
          <p:cNvSpPr/>
          <p:nvPr/>
        </p:nvSpPr>
        <p:spPr>
          <a:xfrm>
            <a:off x="815975" y="1826896"/>
            <a:ext cx="6191250" cy="3615690"/>
          </a:xfrm>
          <a:prstGeom prst="roundRect">
            <a:avLst>
              <a:gd name="adj" fmla="val 3425"/>
            </a:avLst>
          </a:prstGeom>
          <a:solidFill>
            <a:srgbClr val="FFFDF9"/>
          </a:solidFill>
          <a:ln w="6350">
            <a:solidFill>
              <a:srgbClr val="E2DED4"/>
            </a:solidFill>
            <a:prstDash val="solid"/>
          </a:ln>
        </p:spPr>
      </p:sp>
      <p:sp>
        <p:nvSpPr>
          <p:cNvPr id="5" name="Text 3"/>
          <p:cNvSpPr/>
          <p:nvPr/>
        </p:nvSpPr>
        <p:spPr>
          <a:xfrm>
            <a:off x="1071880" y="2057400"/>
            <a:ext cx="58498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7560"/>
                </a:solidFill>
                <a:latin typeface="Georgia" pitchFamily="18" charset="0"/>
                <a:ea typeface="Georgia" pitchFamily="18" charset="-122"/>
                <a:cs typeface="Georgia" pitchFamily="18" charset="-120"/>
              </a:rPr>
              <a:t>For serpentinization studies</a:t>
            </a:r>
            <a:endParaRPr lang="en-US" sz="1600" dirty="0"/>
          </a:p>
        </p:txBody>
      </p:sp>
      <p:sp>
        <p:nvSpPr>
          <p:cNvPr id="6" name="Shape 4"/>
          <p:cNvSpPr/>
          <p:nvPr/>
        </p:nvSpPr>
        <p:spPr>
          <a:xfrm>
            <a:off x="1071880" y="3027047"/>
            <a:ext cx="5679440" cy="0"/>
          </a:xfrm>
          <a:prstGeom prst="line">
            <a:avLst/>
          </a:prstGeom>
          <a:noFill/>
          <a:ln w="6350">
            <a:solidFill>
              <a:srgbClr val="E2DED4"/>
            </a:solidFill>
            <a:prstDash val="solid"/>
          </a:ln>
        </p:spPr>
      </p:sp>
      <p:sp>
        <p:nvSpPr>
          <p:cNvPr id="7" name="Text 5"/>
          <p:cNvSpPr/>
          <p:nvPr/>
        </p:nvSpPr>
        <p:spPr>
          <a:xfrm>
            <a:off x="1071880" y="2453642"/>
            <a:ext cx="471610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62B"/>
                </a:solidFill>
                <a:latin typeface="Arial" pitchFamily="34" charset="0"/>
                <a:ea typeface="Arial" pitchFamily="34" charset="-122"/>
                <a:cs typeface="Arial" pitchFamily="34" charset="-120"/>
              </a:rPr>
              <a:t>Paulick et al. (2006)</a:t>
            </a:r>
            <a:endParaRPr lang="en-US" sz="1300" dirty="0"/>
          </a:p>
        </p:txBody>
      </p:sp>
      <p:sp>
        <p:nvSpPr>
          <p:cNvPr id="8" name="Text 6"/>
          <p:cNvSpPr/>
          <p:nvPr/>
        </p:nvSpPr>
        <p:spPr>
          <a:xfrm>
            <a:off x="1071880" y="2710179"/>
            <a:ext cx="47161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Al2O3/SiO2 vs MgO/SiO2, mantle array</a:t>
            </a:r>
            <a:endParaRPr lang="en-US" sz="1200" dirty="0"/>
          </a:p>
        </p:txBody>
      </p:sp>
      <p:sp>
        <p:nvSpPr>
          <p:cNvPr id="9" name="Text 7"/>
          <p:cNvSpPr/>
          <p:nvPr/>
        </p:nvSpPr>
        <p:spPr>
          <a:xfrm>
            <a:off x="5803027" y="2543814"/>
            <a:ext cx="948293" cy="289560"/>
          </a:xfrm>
          <a:custGeom>
            <a:avLst/>
            <a:gdLst/>
            <a:ahLst/>
            <a:cxnLst/>
            <a:rect l="l" t="t" r="r" b="b"/>
            <a:pathLst>
              <a:path w="948293" h="289560">
                <a:moveTo>
                  <a:pt x="144780" y="0"/>
                </a:moveTo>
                <a:lnTo>
                  <a:pt x="803513" y="0"/>
                </a:lnTo>
                <a:arcTo hR="144780" wR="144780" stAng="16200000" swAng="5400000"/>
                <a:lnTo>
                  <a:pt x="948293" y="144780"/>
                </a:lnTo>
                <a:arcTo hR="144780" wR="144780" stAng="0" swAng="5400000"/>
                <a:lnTo>
                  <a:pt x="144780" y="289560"/>
                </a:lnTo>
                <a:arcTo hR="144780" wR="144780" stAng="5400000" swAng="5400000"/>
                <a:lnTo>
                  <a:pt x="0" y="144780"/>
                </a:lnTo>
                <a:arcTo hR="144780" wR="144780" stAng="10800000" swAng="5400000"/>
                <a:close/>
              </a:path>
            </a:pathLst>
          </a:custGeom>
          <a:solidFill>
            <a:srgbClr val="1A7560"/>
          </a:solidFill>
          <a:ln/>
        </p:spPr>
        <p:txBody>
          <a:bodyPr wrap="none" lIns="0" tIns="0" rIns="0" bIns="0" rtlCol="0" anchor="ctr">
            <a:normAutofit/>
          </a:bodyPr>
          <a:lstStyle/>
          <a:p>
            <a:pPr algn="ctr" indent="0" marL="0">
              <a:lnSpc>
                <a:spcPts val="1680"/>
              </a:lnSpc>
              <a:buNone/>
            </a:pPr>
            <a:r>
              <a:rPr lang="en-US" sz="1200" b="1" dirty="0">
                <a:solidFill>
                  <a:srgbClr val="F7F5F0"/>
                </a:solidFill>
                <a:latin typeface="Arial" pitchFamily="34" charset="0"/>
                <a:ea typeface="Arial" pitchFamily="34" charset="-122"/>
                <a:cs typeface="Arial" pitchFamily="34" charset="-120"/>
              </a:rPr>
              <a:t>In the app</a:t>
            </a:r>
            <a:endParaRPr lang="en-US" sz="1200" dirty="0"/>
          </a:p>
        </p:txBody>
      </p:sp>
      <p:sp>
        <p:nvSpPr>
          <p:cNvPr id="10" name="Shape 8"/>
          <p:cNvSpPr/>
          <p:nvPr/>
        </p:nvSpPr>
        <p:spPr>
          <a:xfrm>
            <a:off x="1071880" y="3756026"/>
            <a:ext cx="5679440" cy="0"/>
          </a:xfrm>
          <a:prstGeom prst="line">
            <a:avLst/>
          </a:prstGeom>
          <a:noFill/>
          <a:ln w="6350">
            <a:solidFill>
              <a:srgbClr val="E2DED4"/>
            </a:solidFill>
            <a:prstDash val="solid"/>
          </a:ln>
        </p:spPr>
      </p:sp>
      <p:sp>
        <p:nvSpPr>
          <p:cNvPr id="11" name="Text 9"/>
          <p:cNvSpPr/>
          <p:nvPr/>
        </p:nvSpPr>
        <p:spPr>
          <a:xfrm>
            <a:off x="1071880" y="3182621"/>
            <a:ext cx="471610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62B"/>
                </a:solidFill>
                <a:latin typeface="Arial" pitchFamily="34" charset="0"/>
                <a:ea typeface="Arial" pitchFamily="34" charset="-122"/>
                <a:cs typeface="Arial" pitchFamily="34" charset="-120"/>
              </a:rPr>
              <a:t>Ohta and Arai (2007)</a:t>
            </a:r>
            <a:endParaRPr lang="en-US" sz="1300" dirty="0"/>
          </a:p>
        </p:txBody>
      </p:sp>
      <p:sp>
        <p:nvSpPr>
          <p:cNvPr id="12" name="Text 10"/>
          <p:cNvSpPr/>
          <p:nvPr/>
        </p:nvSpPr>
        <p:spPr>
          <a:xfrm>
            <a:off x="1071880" y="3439164"/>
            <a:ext cx="47161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F–M–W weathering of igneous rocks</a:t>
            </a:r>
            <a:endParaRPr lang="en-US" sz="1200" dirty="0"/>
          </a:p>
        </p:txBody>
      </p:sp>
      <p:sp>
        <p:nvSpPr>
          <p:cNvPr id="13" name="Text 11"/>
          <p:cNvSpPr/>
          <p:nvPr/>
        </p:nvSpPr>
        <p:spPr>
          <a:xfrm>
            <a:off x="5803027" y="3272792"/>
            <a:ext cx="948293" cy="289560"/>
          </a:xfrm>
          <a:custGeom>
            <a:avLst/>
            <a:gdLst/>
            <a:ahLst/>
            <a:cxnLst/>
            <a:rect l="l" t="t" r="r" b="b"/>
            <a:pathLst>
              <a:path w="948293" h="289560">
                <a:moveTo>
                  <a:pt x="144780" y="0"/>
                </a:moveTo>
                <a:lnTo>
                  <a:pt x="803513" y="0"/>
                </a:lnTo>
                <a:arcTo hR="144780" wR="144780" stAng="16200000" swAng="5400000"/>
                <a:lnTo>
                  <a:pt x="948293" y="144780"/>
                </a:lnTo>
                <a:arcTo hR="144780" wR="144780" stAng="0" swAng="5400000"/>
                <a:lnTo>
                  <a:pt x="144780" y="289560"/>
                </a:lnTo>
                <a:arcTo hR="144780" wR="144780" stAng="5400000" swAng="5400000"/>
                <a:lnTo>
                  <a:pt x="0" y="144780"/>
                </a:lnTo>
                <a:arcTo hR="144780" wR="144780" stAng="10800000" swAng="5400000"/>
                <a:close/>
              </a:path>
            </a:pathLst>
          </a:custGeom>
          <a:solidFill>
            <a:srgbClr val="1A7560"/>
          </a:solidFill>
          <a:ln/>
        </p:spPr>
        <p:txBody>
          <a:bodyPr wrap="none" lIns="0" tIns="0" rIns="0" bIns="0" rtlCol="0" anchor="ctr">
            <a:normAutofit/>
          </a:bodyPr>
          <a:lstStyle/>
          <a:p>
            <a:pPr algn="ctr" indent="0" marL="0">
              <a:lnSpc>
                <a:spcPts val="1680"/>
              </a:lnSpc>
              <a:buNone/>
            </a:pPr>
            <a:r>
              <a:rPr lang="en-US" sz="1200" b="1" dirty="0">
                <a:solidFill>
                  <a:srgbClr val="F7F5F0"/>
                </a:solidFill>
                <a:latin typeface="Arial" pitchFamily="34" charset="0"/>
                <a:ea typeface="Arial" pitchFamily="34" charset="-122"/>
                <a:cs typeface="Arial" pitchFamily="34" charset="-120"/>
              </a:rPr>
              <a:t>In the app</a:t>
            </a:r>
            <a:endParaRPr lang="en-US" sz="1200" dirty="0"/>
          </a:p>
        </p:txBody>
      </p:sp>
      <p:sp>
        <p:nvSpPr>
          <p:cNvPr id="14" name="Shape 12"/>
          <p:cNvSpPr/>
          <p:nvPr/>
        </p:nvSpPr>
        <p:spPr>
          <a:xfrm>
            <a:off x="1071880" y="4485005"/>
            <a:ext cx="5679440" cy="0"/>
          </a:xfrm>
          <a:prstGeom prst="line">
            <a:avLst/>
          </a:prstGeom>
          <a:noFill/>
          <a:ln w="6350">
            <a:solidFill>
              <a:srgbClr val="E2DED4"/>
            </a:solidFill>
            <a:prstDash val="solid"/>
          </a:ln>
        </p:spPr>
      </p:sp>
      <p:sp>
        <p:nvSpPr>
          <p:cNvPr id="15" name="Text 13"/>
          <p:cNvSpPr/>
          <p:nvPr/>
        </p:nvSpPr>
        <p:spPr>
          <a:xfrm>
            <a:off x="1071880" y="3911600"/>
            <a:ext cx="471610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62B"/>
                </a:solidFill>
                <a:latin typeface="Arial" pitchFamily="34" charset="0"/>
                <a:ea typeface="Arial" pitchFamily="34" charset="-122"/>
                <a:cs typeface="Arial" pitchFamily="34" charset="-120"/>
              </a:rPr>
              <a:t>XRF ultramafic check</a:t>
            </a:r>
            <a:endParaRPr lang="en-US" sz="1300" dirty="0"/>
          </a:p>
        </p:txBody>
      </p:sp>
      <p:sp>
        <p:nvSpPr>
          <p:cNvPr id="16" name="Text 14"/>
          <p:cNvSpPr/>
          <p:nvPr/>
        </p:nvSpPr>
        <p:spPr>
          <a:xfrm>
            <a:off x="1071880" y="4168142"/>
            <a:ext cx="47161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Mg# of high-MgO rocks (Mikuni et al. 2025)</a:t>
            </a:r>
            <a:endParaRPr lang="en-US" sz="1200" dirty="0"/>
          </a:p>
        </p:txBody>
      </p:sp>
      <p:sp>
        <p:nvSpPr>
          <p:cNvPr id="17" name="Text 15"/>
          <p:cNvSpPr/>
          <p:nvPr/>
        </p:nvSpPr>
        <p:spPr>
          <a:xfrm>
            <a:off x="5803027" y="4001771"/>
            <a:ext cx="948293" cy="289560"/>
          </a:xfrm>
          <a:custGeom>
            <a:avLst/>
            <a:gdLst/>
            <a:ahLst/>
            <a:cxnLst/>
            <a:rect l="l" t="t" r="r" b="b"/>
            <a:pathLst>
              <a:path w="948293" h="289560">
                <a:moveTo>
                  <a:pt x="144780" y="0"/>
                </a:moveTo>
                <a:lnTo>
                  <a:pt x="803513" y="0"/>
                </a:lnTo>
                <a:arcTo hR="144780" wR="144780" stAng="16200000" swAng="5400000"/>
                <a:lnTo>
                  <a:pt x="948293" y="144780"/>
                </a:lnTo>
                <a:arcTo hR="144780" wR="144780" stAng="0" swAng="5400000"/>
                <a:lnTo>
                  <a:pt x="144780" y="289560"/>
                </a:lnTo>
                <a:arcTo hR="144780" wR="144780" stAng="5400000" swAng="5400000"/>
                <a:lnTo>
                  <a:pt x="0" y="144780"/>
                </a:lnTo>
                <a:arcTo hR="144780" wR="144780" stAng="10800000" swAng="5400000"/>
                <a:close/>
              </a:path>
            </a:pathLst>
          </a:custGeom>
          <a:solidFill>
            <a:srgbClr val="1A7560"/>
          </a:solidFill>
          <a:ln/>
        </p:spPr>
        <p:txBody>
          <a:bodyPr wrap="none" lIns="0" tIns="0" rIns="0" bIns="0" rtlCol="0" anchor="ctr">
            <a:normAutofit/>
          </a:bodyPr>
          <a:lstStyle/>
          <a:p>
            <a:pPr algn="ctr" indent="0" marL="0">
              <a:lnSpc>
                <a:spcPts val="1680"/>
              </a:lnSpc>
              <a:buNone/>
            </a:pPr>
            <a:r>
              <a:rPr lang="en-US" sz="1200" b="1" dirty="0">
                <a:solidFill>
                  <a:srgbClr val="F7F5F0"/>
                </a:solidFill>
                <a:latin typeface="Arial" pitchFamily="34" charset="0"/>
                <a:ea typeface="Arial" pitchFamily="34" charset="-122"/>
                <a:cs typeface="Arial" pitchFamily="34" charset="-120"/>
              </a:rPr>
              <a:t>In the app</a:t>
            </a:r>
            <a:endParaRPr lang="en-US" sz="1200" dirty="0"/>
          </a:p>
        </p:txBody>
      </p:sp>
      <p:sp>
        <p:nvSpPr>
          <p:cNvPr id="18" name="Text 16"/>
          <p:cNvSpPr/>
          <p:nvPr/>
        </p:nvSpPr>
        <p:spPr>
          <a:xfrm>
            <a:off x="1071880" y="4640579"/>
            <a:ext cx="482582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62B"/>
                </a:solidFill>
                <a:latin typeface="Arial" pitchFamily="34" charset="0"/>
                <a:ea typeface="Arial" pitchFamily="34" charset="-122"/>
                <a:cs typeface="Arial" pitchFamily="34" charset="-120"/>
              </a:rPr>
              <a:t>Isocon (Grant 1986)</a:t>
            </a:r>
            <a:endParaRPr lang="en-US" sz="1300" dirty="0"/>
          </a:p>
        </p:txBody>
      </p:sp>
      <p:sp>
        <p:nvSpPr>
          <p:cNvPr id="19" name="Text 17"/>
          <p:cNvSpPr/>
          <p:nvPr/>
        </p:nvSpPr>
        <p:spPr>
          <a:xfrm>
            <a:off x="1071880" y="4897121"/>
            <a:ext cx="4825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Mass change during alteration</a:t>
            </a:r>
            <a:endParaRPr lang="en-US" sz="1200" dirty="0"/>
          </a:p>
        </p:txBody>
      </p:sp>
      <p:sp>
        <p:nvSpPr>
          <p:cNvPr id="20" name="Text 18"/>
          <p:cNvSpPr/>
          <p:nvPr/>
        </p:nvSpPr>
        <p:spPr>
          <a:xfrm>
            <a:off x="5915898" y="4739642"/>
            <a:ext cx="829072" cy="271780"/>
          </a:xfrm>
          <a:custGeom>
            <a:avLst/>
            <a:gdLst/>
            <a:ahLst/>
            <a:cxnLst/>
            <a:rect l="l" t="t" r="r" b="b"/>
            <a:pathLst>
              <a:path w="829072" h="271780">
                <a:moveTo>
                  <a:pt x="135890" y="0"/>
                </a:moveTo>
                <a:lnTo>
                  <a:pt x="693182" y="0"/>
                </a:lnTo>
                <a:arcTo hR="135890" wR="135890" stAng="16200000" swAng="5400000"/>
                <a:lnTo>
                  <a:pt x="829072"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9C5418"/>
            </a:solidFill>
            <a:prstDash val="solid"/>
          </a:ln>
        </p:spPr>
        <p:txBody>
          <a:bodyPr wrap="none" lIns="0" tIns="0" rIns="0" bIns="0" rtlCol="0" anchor="ctr">
            <a:normAutofit/>
          </a:bodyPr>
          <a:lstStyle/>
          <a:p>
            <a:pPr algn="ctr" indent="0" marL="0">
              <a:lnSpc>
                <a:spcPts val="1680"/>
              </a:lnSpc>
              <a:buNone/>
            </a:pPr>
            <a:r>
              <a:rPr lang="en-US" sz="1200" b="1" dirty="0">
                <a:solidFill>
                  <a:srgbClr val="9C5418"/>
                </a:solidFill>
                <a:latin typeface="Arial" pitchFamily="34" charset="0"/>
                <a:ea typeface="Arial" pitchFamily="34" charset="-122"/>
                <a:cs typeface="Arial" pitchFamily="34" charset="-120"/>
              </a:rPr>
              <a:t>Planned</a:t>
            </a:r>
            <a:endParaRPr lang="en-US" sz="1200" dirty="0"/>
          </a:p>
        </p:txBody>
      </p:sp>
      <p:sp>
        <p:nvSpPr>
          <p:cNvPr id="21" name="Text 19"/>
          <p:cNvSpPr/>
          <p:nvPr/>
        </p:nvSpPr>
        <p:spPr>
          <a:xfrm>
            <a:off x="7315200" y="1823721"/>
            <a:ext cx="41859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7560"/>
                </a:solidFill>
                <a:latin typeface="Georgia" pitchFamily="18" charset="0"/>
                <a:ea typeface="Georgia" pitchFamily="18" charset="-122"/>
                <a:cs typeface="Georgia" pitchFamily="18" charset="-120"/>
              </a:rPr>
              <a:t>Roadmap</a:t>
            </a:r>
            <a:endParaRPr lang="en-US" sz="1600" dirty="0"/>
          </a:p>
        </p:txBody>
      </p:sp>
      <p:sp>
        <p:nvSpPr>
          <p:cNvPr id="22" name="Shape 20"/>
          <p:cNvSpPr/>
          <p:nvPr/>
        </p:nvSpPr>
        <p:spPr>
          <a:xfrm>
            <a:off x="7334250" y="2194564"/>
            <a:ext cx="0" cy="556260"/>
          </a:xfrm>
          <a:prstGeom prst="line">
            <a:avLst/>
          </a:prstGeom>
          <a:noFill/>
          <a:ln w="38100">
            <a:solidFill>
              <a:srgbClr val="1A7560"/>
            </a:solidFill>
            <a:prstDash val="solid"/>
          </a:ln>
        </p:spPr>
      </p:sp>
      <p:sp>
        <p:nvSpPr>
          <p:cNvPr id="23" name="Text 21"/>
          <p:cNvSpPr/>
          <p:nvPr/>
        </p:nvSpPr>
        <p:spPr>
          <a:xfrm>
            <a:off x="7528560" y="2219964"/>
            <a:ext cx="39661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7560"/>
                </a:solidFill>
                <a:latin typeface="Arial" pitchFamily="34" charset="0"/>
                <a:ea typeface="Arial" pitchFamily="34" charset="-122"/>
                <a:cs typeface="Arial" pitchFamily="34" charset="-120"/>
              </a:rPr>
              <a:t>NOW · v0.11</a:t>
            </a:r>
            <a:endParaRPr lang="en-US" sz="1200" dirty="0"/>
          </a:p>
        </p:txBody>
      </p:sp>
      <p:sp>
        <p:nvSpPr>
          <p:cNvPr id="24" name="Text 22"/>
          <p:cNvSpPr/>
          <p:nvPr/>
        </p:nvSpPr>
        <p:spPr>
          <a:xfrm>
            <a:off x="7528560" y="2458721"/>
            <a:ext cx="39661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62B"/>
                </a:solidFill>
                <a:latin typeface="Arial" pitchFamily="34" charset="0"/>
                <a:ea typeface="Arial" pitchFamily="34" charset="-122"/>
                <a:cs typeface="Arial" pitchFamily="34" charset="-120"/>
              </a:rPr>
              <a:t>Whole-rock XRF and ICP</a:t>
            </a:r>
            <a:endParaRPr lang="en-US" sz="1500" dirty="0"/>
          </a:p>
        </p:txBody>
      </p:sp>
      <p:sp>
        <p:nvSpPr>
          <p:cNvPr id="25" name="Shape 23"/>
          <p:cNvSpPr/>
          <p:nvPr/>
        </p:nvSpPr>
        <p:spPr>
          <a:xfrm>
            <a:off x="7334250" y="2877821"/>
            <a:ext cx="0" cy="556260"/>
          </a:xfrm>
          <a:prstGeom prst="line">
            <a:avLst/>
          </a:prstGeom>
          <a:noFill/>
          <a:ln w="38100">
            <a:solidFill>
              <a:srgbClr val="C9C3B5"/>
            </a:solidFill>
            <a:prstDash val="solid"/>
          </a:ln>
        </p:spPr>
      </p:sp>
      <p:sp>
        <p:nvSpPr>
          <p:cNvPr id="26" name="Text 24"/>
          <p:cNvSpPr/>
          <p:nvPr/>
        </p:nvSpPr>
        <p:spPr>
          <a:xfrm>
            <a:off x="7528560" y="2903221"/>
            <a:ext cx="39661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A6D"/>
                </a:solidFill>
                <a:latin typeface="Arial" pitchFamily="34" charset="0"/>
                <a:ea typeface="Arial" pitchFamily="34" charset="-122"/>
                <a:cs typeface="Arial" pitchFamily="34" charset="-120"/>
              </a:rPr>
              <a:t>NEXT</a:t>
            </a:r>
            <a:endParaRPr lang="en-US" sz="1200" dirty="0"/>
          </a:p>
        </p:txBody>
      </p:sp>
      <p:sp>
        <p:nvSpPr>
          <p:cNvPr id="27" name="Text 25"/>
          <p:cNvSpPr/>
          <p:nvPr/>
        </p:nvSpPr>
        <p:spPr>
          <a:xfrm>
            <a:off x="7528560" y="3141979"/>
            <a:ext cx="39661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62B"/>
                </a:solidFill>
                <a:latin typeface="Arial" pitchFamily="34" charset="0"/>
                <a:ea typeface="Arial" pitchFamily="34" charset="-122"/>
                <a:cs typeface="Arial" pitchFamily="34" charset="-120"/>
              </a:rPr>
              <a:t>XRD: mineral identification</a:t>
            </a:r>
            <a:endParaRPr lang="en-US" sz="1500" dirty="0"/>
          </a:p>
        </p:txBody>
      </p:sp>
      <p:sp>
        <p:nvSpPr>
          <p:cNvPr id="28" name="Shape 26"/>
          <p:cNvSpPr/>
          <p:nvPr/>
        </p:nvSpPr>
        <p:spPr>
          <a:xfrm>
            <a:off x="7334250" y="3561079"/>
            <a:ext cx="0" cy="556260"/>
          </a:xfrm>
          <a:prstGeom prst="line">
            <a:avLst/>
          </a:prstGeom>
          <a:noFill/>
          <a:ln w="38100">
            <a:solidFill>
              <a:srgbClr val="C9C3B5"/>
            </a:solidFill>
            <a:prstDash val="solid"/>
          </a:ln>
        </p:spPr>
      </p:sp>
      <p:sp>
        <p:nvSpPr>
          <p:cNvPr id="29" name="Text 27"/>
          <p:cNvSpPr/>
          <p:nvPr/>
        </p:nvSpPr>
        <p:spPr>
          <a:xfrm>
            <a:off x="7528560" y="3586479"/>
            <a:ext cx="39661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A6D"/>
                </a:solidFill>
                <a:latin typeface="Arial" pitchFamily="34" charset="0"/>
                <a:ea typeface="Arial" pitchFamily="34" charset="-122"/>
                <a:cs typeface="Arial" pitchFamily="34" charset="-120"/>
              </a:rPr>
              <a:t>THEN</a:t>
            </a:r>
            <a:endParaRPr lang="en-US" sz="1200" dirty="0"/>
          </a:p>
        </p:txBody>
      </p:sp>
      <p:sp>
        <p:nvSpPr>
          <p:cNvPr id="30" name="Text 28"/>
          <p:cNvSpPr/>
          <p:nvPr/>
        </p:nvSpPr>
        <p:spPr>
          <a:xfrm>
            <a:off x="7528560" y="3825242"/>
            <a:ext cx="39661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62B"/>
                </a:solidFill>
                <a:latin typeface="Arial" pitchFamily="34" charset="0"/>
                <a:ea typeface="Arial" pitchFamily="34" charset="-122"/>
                <a:cs typeface="Arial" pitchFamily="34" charset="-120"/>
              </a:rPr>
              <a:t>SEM-EDX: spectra and maps</a:t>
            </a:r>
            <a:endParaRPr lang="en-US" sz="1500" dirty="0"/>
          </a:p>
        </p:txBody>
      </p:sp>
      <p:sp>
        <p:nvSpPr>
          <p:cNvPr id="31" name="Shape 29"/>
          <p:cNvSpPr/>
          <p:nvPr/>
        </p:nvSpPr>
        <p:spPr>
          <a:xfrm>
            <a:off x="7334250" y="4244342"/>
            <a:ext cx="0" cy="556260"/>
          </a:xfrm>
          <a:prstGeom prst="line">
            <a:avLst/>
          </a:prstGeom>
          <a:noFill/>
          <a:ln w="38100">
            <a:solidFill>
              <a:srgbClr val="C9C3B5"/>
            </a:solidFill>
            <a:prstDash val="solid"/>
          </a:ln>
        </p:spPr>
      </p:sp>
      <p:sp>
        <p:nvSpPr>
          <p:cNvPr id="32" name="Text 30"/>
          <p:cNvSpPr/>
          <p:nvPr/>
        </p:nvSpPr>
        <p:spPr>
          <a:xfrm>
            <a:off x="7528560" y="4269742"/>
            <a:ext cx="39661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A6D"/>
                </a:solidFill>
                <a:latin typeface="Arial" pitchFamily="34" charset="0"/>
                <a:ea typeface="Arial" pitchFamily="34" charset="-122"/>
                <a:cs typeface="Arial" pitchFamily="34" charset="-120"/>
              </a:rPr>
              <a:t>LATER</a:t>
            </a:r>
            <a:endParaRPr lang="en-US" sz="1200" dirty="0"/>
          </a:p>
        </p:txBody>
      </p:sp>
      <p:sp>
        <p:nvSpPr>
          <p:cNvPr id="33" name="Text 31"/>
          <p:cNvSpPr/>
          <p:nvPr/>
        </p:nvSpPr>
        <p:spPr>
          <a:xfrm>
            <a:off x="7528560" y="4508500"/>
            <a:ext cx="39661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62B"/>
                </a:solidFill>
                <a:latin typeface="Arial" pitchFamily="34" charset="0"/>
                <a:ea typeface="Arial" pitchFamily="34" charset="-122"/>
                <a:cs typeface="Arial" pitchFamily="34" charset="-120"/>
              </a:rPr>
              <a:t>Raman and EPMA</a:t>
            </a:r>
            <a:endParaRPr lang="en-US" sz="1500" dirty="0"/>
          </a:p>
        </p:txBody>
      </p:sp>
      <p:sp>
        <p:nvSpPr>
          <p:cNvPr id="34" name="Text 32"/>
          <p:cNvSpPr/>
          <p:nvPr/>
        </p:nvSpPr>
        <p:spPr>
          <a:xfrm>
            <a:off x="812800" y="6236971"/>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D"/>
                </a:solidFill>
                <a:latin typeface="Arial" pitchFamily="34" charset="0"/>
                <a:ea typeface="Arial" pitchFamily="34" charset="-122"/>
                <a:cs typeface="Arial" pitchFamily="34" charset="-120"/>
              </a:rPr>
              <a:t>GeoChem App · Bahrul Hidayah</a:t>
            </a:r>
            <a:endParaRPr lang="en-US" sz="1200" dirty="0"/>
          </a:p>
        </p:txBody>
      </p:sp>
      <p:sp>
        <p:nvSpPr>
          <p:cNvPr id="35" name="Text 33"/>
          <p:cNvSpPr/>
          <p:nvPr/>
        </p:nvSpPr>
        <p:spPr>
          <a:xfrm>
            <a:off x="11158855" y="6236971"/>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D"/>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62B"/>
        </a:solidFill>
      </p:bgPr>
    </p:bg>
    <p:spTree>
      <p:nvGrpSpPr>
        <p:cNvPr id="1" name=""/>
        <p:cNvGrpSpPr/>
        <p:nvPr/>
      </p:nvGrpSpPr>
      <p:grpSpPr>
        <a:xfrm>
          <a:off x="0" y="0"/>
          <a:ext cx="0" cy="0"/>
          <a:chOff x="0" y="0"/>
          <a:chExt cx="0" cy="0"/>
        </a:xfrm>
      </p:grpSpPr>
      <p:sp>
        <p:nvSpPr>
          <p:cNvPr id="2" name="Text 0"/>
          <p:cNvSpPr/>
          <p:nvPr/>
        </p:nvSpPr>
        <p:spPr>
          <a:xfrm>
            <a:off x="812800" y="812800"/>
            <a:ext cx="774395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9A8"/>
                </a:solidFill>
                <a:latin typeface="Arial" pitchFamily="34" charset="0"/>
                <a:ea typeface="Arial" pitchFamily="34" charset="-122"/>
                <a:cs typeface="Arial" pitchFamily="34" charset="-120"/>
              </a:rPr>
              <a:t>THANK YOU</a:t>
            </a:r>
            <a:endParaRPr lang="en-US" sz="1200" dirty="0"/>
          </a:p>
        </p:txBody>
      </p:sp>
      <p:sp>
        <p:nvSpPr>
          <p:cNvPr id="3" name="Text 1"/>
          <p:cNvSpPr/>
          <p:nvPr>
            <p:ph type="title"/>
          </p:nvPr>
        </p:nvSpPr>
        <p:spPr>
          <a:xfrm>
            <a:off x="812800" y="1102364"/>
            <a:ext cx="774395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5F0"/>
                </a:solidFill>
                <a:latin typeface="Georgia" pitchFamily="18" charset="0"/>
                <a:ea typeface="Georgia" pitchFamily="18" charset="-122"/>
                <a:cs typeface="Georgia" pitchFamily="18" charset="-120"/>
              </a:rPr>
              <a:t>Summary</a:t>
            </a:r>
            <a:endParaRPr lang="en-US" sz="3200" dirty="0"/>
          </a:p>
        </p:txBody>
      </p:sp>
      <p:sp>
        <p:nvSpPr>
          <p:cNvPr id="4" name="Text 2"/>
          <p:cNvSpPr/>
          <p:nvPr/>
        </p:nvSpPr>
        <p:spPr>
          <a:xfrm>
            <a:off x="812800" y="1798327"/>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FC9A8"/>
                </a:solidFill>
                <a:latin typeface="Georgia" pitchFamily="18" charset="0"/>
                <a:ea typeface="Georgia" pitchFamily="18" charset="-122"/>
                <a:cs typeface="Georgia" pitchFamily="18" charset="-120"/>
              </a:rPr>
              <a:t>1</a:t>
            </a:r>
            <a:endParaRPr lang="en-US" sz="1800" dirty="0"/>
          </a:p>
        </p:txBody>
      </p:sp>
      <p:sp>
        <p:nvSpPr>
          <p:cNvPr id="5" name="Text 3"/>
          <p:cNvSpPr/>
          <p:nvPr/>
        </p:nvSpPr>
        <p:spPr>
          <a:xfrm>
            <a:off x="1270000" y="1833885"/>
            <a:ext cx="727303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2EFE8"/>
                </a:solidFill>
                <a:latin typeface="Arial" pitchFamily="34" charset="0"/>
                <a:ea typeface="Arial" pitchFamily="34" charset="-122"/>
                <a:cs typeface="Arial" pitchFamily="34" charset="-120"/>
              </a:rPr>
              <a:t>A free web app for whole-rock geochemistry: 27 diagrams, spider plots, CIPW norm and XRF QC.</a:t>
            </a:r>
            <a:endParaRPr lang="en-US" sz="1500" dirty="0"/>
          </a:p>
        </p:txBody>
      </p:sp>
      <p:sp>
        <p:nvSpPr>
          <p:cNvPr id="6" name="Text 4"/>
          <p:cNvSpPr/>
          <p:nvPr/>
        </p:nvSpPr>
        <p:spPr>
          <a:xfrm>
            <a:off x="812800" y="2513335"/>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FC9A8"/>
                </a:solidFill>
                <a:latin typeface="Georgia" pitchFamily="18" charset="0"/>
                <a:ea typeface="Georgia" pitchFamily="18" charset="-122"/>
                <a:cs typeface="Georgia" pitchFamily="18" charset="-120"/>
              </a:rPr>
              <a:t>2</a:t>
            </a:r>
            <a:endParaRPr lang="en-US" sz="1800" dirty="0"/>
          </a:p>
        </p:txBody>
      </p:sp>
      <p:sp>
        <p:nvSpPr>
          <p:cNvPr id="7" name="Text 5"/>
          <p:cNvSpPr/>
          <p:nvPr/>
        </p:nvSpPr>
        <p:spPr>
          <a:xfrm>
            <a:off x="1270000" y="2548892"/>
            <a:ext cx="756920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2EFE8"/>
                </a:solidFill>
                <a:latin typeface="Arial" pitchFamily="34" charset="0"/>
                <a:ea typeface="Arial" pitchFamily="34" charset="-122"/>
                <a:cs typeface="Arial" pitchFamily="34" charset="-120"/>
              </a:rPr>
              <a:t>Built from widely used, published sources; every result traces back to its reference.</a:t>
            </a:r>
            <a:endParaRPr lang="en-US" sz="1500" dirty="0"/>
          </a:p>
        </p:txBody>
      </p:sp>
      <p:sp>
        <p:nvSpPr>
          <p:cNvPr id="8" name="Text 6"/>
          <p:cNvSpPr/>
          <p:nvPr/>
        </p:nvSpPr>
        <p:spPr>
          <a:xfrm>
            <a:off x="812800" y="2960377"/>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FC9A8"/>
                </a:solidFill>
                <a:latin typeface="Georgia" pitchFamily="18" charset="0"/>
                <a:ea typeface="Georgia" pitchFamily="18" charset="-122"/>
                <a:cs typeface="Georgia" pitchFamily="18" charset="-120"/>
              </a:rPr>
              <a:t>3</a:t>
            </a:r>
            <a:endParaRPr lang="en-US" sz="1800" dirty="0"/>
          </a:p>
        </p:txBody>
      </p:sp>
      <p:sp>
        <p:nvSpPr>
          <p:cNvPr id="9" name="Text 7"/>
          <p:cNvSpPr/>
          <p:nvPr/>
        </p:nvSpPr>
        <p:spPr>
          <a:xfrm>
            <a:off x="1270000" y="2995935"/>
            <a:ext cx="727303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2EFE8"/>
                </a:solidFill>
                <a:latin typeface="Arial" pitchFamily="34" charset="0"/>
                <a:ea typeface="Arial" pitchFamily="34" charset="-122"/>
                <a:cs typeface="Arial" pitchFamily="34" charset="-120"/>
              </a:rPr>
              <a:t>Runs online, offline or from source code; open source under GPL-3.0.</a:t>
            </a:r>
            <a:endParaRPr lang="en-US" sz="1500" dirty="0"/>
          </a:p>
        </p:txBody>
      </p:sp>
      <p:sp>
        <p:nvSpPr>
          <p:cNvPr id="10" name="Shape 8"/>
          <p:cNvSpPr/>
          <p:nvPr/>
        </p:nvSpPr>
        <p:spPr>
          <a:xfrm>
            <a:off x="812800" y="3512183"/>
            <a:ext cx="7518400" cy="0"/>
          </a:xfrm>
          <a:prstGeom prst="line">
            <a:avLst/>
          </a:prstGeom>
          <a:noFill/>
          <a:ln w="6350">
            <a:solidFill>
              <a:srgbClr val="35484D"/>
            </a:solidFill>
            <a:prstDash val="solid"/>
          </a:ln>
        </p:spPr>
      </p:sp>
      <p:sp>
        <p:nvSpPr>
          <p:cNvPr id="11" name="Text 9"/>
          <p:cNvSpPr/>
          <p:nvPr/>
        </p:nvSpPr>
        <p:spPr>
          <a:xfrm>
            <a:off x="812800" y="3666492"/>
            <a:ext cx="774395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C7C4"/>
                </a:solidFill>
                <a:latin typeface="Arial" pitchFamily="34" charset="0"/>
                <a:ea typeface="Arial" pitchFamily="34" charset="-122"/>
                <a:cs typeface="Arial" pitchFamily="34" charset="-120"/>
              </a:rPr>
              <a:t>Acknowledgement: boundary data adapted from open-source tools, including GCDkit (Janoušek et al. 2006, Journal of Petrology 47, 1255–1259).</a:t>
            </a:r>
            <a:endParaRPr lang="en-US" sz="1200" dirty="0"/>
          </a:p>
        </p:txBody>
      </p:sp>
      <p:sp>
        <p:nvSpPr>
          <p:cNvPr id="12" name="Text 10"/>
          <p:cNvSpPr/>
          <p:nvPr/>
        </p:nvSpPr>
        <p:spPr>
          <a:xfrm>
            <a:off x="812800" y="4184650"/>
            <a:ext cx="774395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C7C4"/>
                </a:solidFill>
                <a:latin typeface="Arial" pitchFamily="34" charset="0"/>
                <a:ea typeface="Arial" pitchFamily="34" charset="-122"/>
                <a:cs typeface="Arial" pitchFamily="34" charset="-120"/>
              </a:rPr>
              <a:t>Cite as: Hidayah B. (2026) GeoChem App: a free web application for whole-rock geochemistry, v0.11.0.</a:t>
            </a:r>
            <a:endParaRPr lang="en-US" sz="1200" dirty="0"/>
          </a:p>
        </p:txBody>
      </p:sp>
      <p:sp>
        <p:nvSpPr>
          <p:cNvPr id="13" name="Shape 11"/>
          <p:cNvSpPr/>
          <p:nvPr/>
        </p:nvSpPr>
        <p:spPr>
          <a:xfrm>
            <a:off x="8839200" y="812800"/>
            <a:ext cx="2540000" cy="3393440"/>
          </a:xfrm>
          <a:prstGeom prst="roundRect">
            <a:avLst>
              <a:gd name="adj" fmla="val 6000"/>
            </a:avLst>
          </a:prstGeom>
          <a:solidFill>
            <a:srgbClr val="F7F5F0"/>
          </a:solidFill>
          <a:ln/>
        </p:spPr>
      </p:sp>
      <p:pic>
        <p:nvPicPr>
          <p:cNvPr id="14" name="Image 0" descr="QR code to the GeoChem App GitHub repository">    </p:cNvPr>
          <p:cNvPicPr>
            <a:picLocks noChangeAspect="1"/>
          </p:cNvPicPr>
          <p:nvPr/>
        </p:nvPicPr>
        <p:blipFill>
          <a:blip r:embed="rId1"/>
          <a:srcRect l="0" r="0" t="0" b="0"/>
          <a:stretch/>
        </p:blipFill>
        <p:spPr>
          <a:xfrm>
            <a:off x="9220200" y="1066800"/>
            <a:ext cx="1778000" cy="1778000"/>
          </a:xfrm>
          <a:prstGeom prst="rect">
            <a:avLst/>
          </a:prstGeom>
        </p:spPr>
      </p:pic>
      <p:sp>
        <p:nvSpPr>
          <p:cNvPr id="15" name="Text 12"/>
          <p:cNvSpPr/>
          <p:nvPr/>
        </p:nvSpPr>
        <p:spPr>
          <a:xfrm>
            <a:off x="9062720" y="2971800"/>
            <a:ext cx="2092960" cy="452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62B"/>
                </a:solidFill>
                <a:latin typeface="Arial" pitchFamily="34" charset="0"/>
                <a:ea typeface="Arial" pitchFamily="34" charset="-122"/>
                <a:cs typeface="Arial" pitchFamily="34" charset="-120"/>
              </a:rPr>
              <a:t>Source code, issues and feedback</a:t>
            </a:r>
            <a:endParaRPr lang="en-US" sz="1200" dirty="0"/>
          </a:p>
        </p:txBody>
      </p:sp>
      <p:sp>
        <p:nvSpPr>
          <p:cNvPr id="16" name="Text 13"/>
          <p:cNvSpPr/>
          <p:nvPr/>
        </p:nvSpPr>
        <p:spPr>
          <a:xfrm>
            <a:off x="9153552" y="3525527"/>
            <a:ext cx="1911298"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A7560"/>
                </a:solidFill>
                <a:latin typeface="Arial" pitchFamily="34" charset="0"/>
                <a:ea typeface="Arial" pitchFamily="34" charset="-122"/>
                <a:cs typeface="Arial" pitchFamily="34" charset="-120"/>
              </a:rPr>
              <a:t>github.com/</a:t>
            </a:r>
            <a:endParaRPr lang="en-US" sz="1200" dirty="0"/>
          </a:p>
          <a:p>
            <a:pPr algn="ctr" indent="0" marL="0">
              <a:lnSpc>
                <a:spcPts val="1680"/>
              </a:lnSpc>
              <a:buNone/>
            </a:pPr>
            <a:r>
              <a:rPr lang="en-US" sz="1200" dirty="0">
                <a:solidFill>
                  <a:srgbClr val="1A7560"/>
                </a:solidFill>
                <a:latin typeface="Arial" pitchFamily="34" charset="0"/>
                <a:ea typeface="Arial" pitchFamily="34" charset="-122"/>
                <a:cs typeface="Arial" pitchFamily="34" charset="-120"/>
              </a:rPr>
              <a:t>bahrulhidayah-dev/geo-app</a:t>
            </a:r>
            <a:endParaRPr lang="en-US" sz="1200" dirty="0"/>
          </a:p>
        </p:txBody>
      </p:sp>
      <p:sp>
        <p:nvSpPr>
          <p:cNvPr id="17" name="Text 14"/>
          <p:cNvSpPr/>
          <p:nvPr/>
        </p:nvSpPr>
        <p:spPr>
          <a:xfrm>
            <a:off x="812800" y="6236977"/>
            <a:ext cx="2612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7C4"/>
                </a:solidFill>
                <a:latin typeface="Arial" pitchFamily="34" charset="0"/>
                <a:ea typeface="Arial" pitchFamily="34" charset="-122"/>
                <a:cs typeface="Arial" pitchFamily="34" charset="-120"/>
              </a:rPr>
              <a:t>GeoChem App · Bahrul Hidayah</a:t>
            </a:r>
            <a:endParaRPr lang="en-US" sz="1200" dirty="0"/>
          </a:p>
        </p:txBody>
      </p:sp>
      <p:sp>
        <p:nvSpPr>
          <p:cNvPr id="18" name="Text 15"/>
          <p:cNvSpPr/>
          <p:nvPr/>
        </p:nvSpPr>
        <p:spPr>
          <a:xfrm>
            <a:off x="11158855" y="6236977"/>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7C4"/>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theme/theme1.xml><?xml version="1.0" encoding="utf-8"?>
<a:theme xmlns:a="http://schemas.openxmlformats.org/drawingml/2006/main" name="GeoChem App: A Free Web Application for Whole-Rock Geochemistry">
  <a:themeElements>
    <a:clrScheme name="GeoChem App: A Free Web Application for Whole-Rock Geochemistry">
      <a:dk1>
        <a:srgbClr val="17262B"/>
      </a:dk1>
      <a:lt1>
        <a:srgbClr val="F7F5F0"/>
      </a:lt1>
      <a:dk2>
        <a:srgbClr val="4F5A5C"/>
      </a:dk2>
      <a:lt2>
        <a:srgbClr val="E1E0DC"/>
      </a:lt2>
      <a:accent1>
        <a:srgbClr val="1A7560"/>
      </a:accent1>
      <a:accent2>
        <a:srgbClr val="9C5418"/>
      </a:accent2>
      <a:accent3>
        <a:srgbClr val="6FC9A8"/>
      </a:accent3>
      <a:accent4>
        <a:srgbClr val="4B3A80"/>
      </a:accent4>
      <a:accent5>
        <a:srgbClr val="2F5D8C"/>
      </a:accent5>
      <a:accent6>
        <a:srgbClr val="4A5A5E"/>
      </a:accent6>
      <a:hlink>
        <a:srgbClr val="0563C1"/>
      </a:hlink>
      <a:folHlink>
        <a:srgbClr val="954F72"/>
      </a:folHlink>
    </a:clrScheme>
    <a:fontScheme name="GeoChem App: A Free Web Application for Whole-Rock Geochemistr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GeoChem App: A Free Web Application for Whole-Rock Geochemistry</dc:title>
  <dc:subject/>
  <dc:creator/>
  <cp:lastModifiedBy/>
  <cp:revision>1</cp:revision>
  <dcterms:created xsi:type="dcterms:W3CDTF">2026-10-21T04:57:00Z</dcterms:created>
  <dcterms:modified xsi:type="dcterms:W3CDTF">2026-10-21T04:57:00Z</dcterms:modified>
</cp:coreProperties>
</file>